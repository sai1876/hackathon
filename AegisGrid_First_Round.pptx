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fd2a2f00f2496a" /><Relationship Type="http://schemas.openxmlformats.org/officeDocument/2006/relationships/extended-properties" Target="/docProps/app.xml" Id="R8da4d1e3c45d430e" /><Relationship Type="http://schemas.openxmlformats.org/officeDocument/2006/relationships/officeDocument" Target="/ppt/presentation.xml" Id="Ra34067cc477b4da3" /></Relationships>
</file>

<file path=ppt/presentation.xml><?xml version="1.0" encoding="utf-8"?>
<p:presentation xmlns:p="http://schemas.openxmlformats.org/presentationml/2006/main">
  <p:sldMasterIdLst>
    <p:sldMasterId xmlns:r="http://schemas.openxmlformats.org/officeDocument/2006/relationships" id="2147483648" r:id="R921fd94d8a9f4bfe"/>
  </p:sldMasterIdLst>
  <p:notesMasterIdLst>
    <p:notesMasterId xmlns:r="http://schemas.openxmlformats.org/officeDocument/2006/relationships" r:id="R403998721328494c"/>
  </p:notesMasterIdLst>
  <p:sldIdLst>
    <p:sldId xmlns:r="http://schemas.openxmlformats.org/officeDocument/2006/relationships" id="256" r:id="Rd6c9161947d54a22"/>
    <p:sldId xmlns:r="http://schemas.openxmlformats.org/officeDocument/2006/relationships" id="257" r:id="R71c374bb534b4f04"/>
    <p:sldId xmlns:r="http://schemas.openxmlformats.org/officeDocument/2006/relationships" id="258" r:id="R1d37079ddced4480"/>
    <p:sldId xmlns:r="http://schemas.openxmlformats.org/officeDocument/2006/relationships" id="259" r:id="Rca2422dab6704d3a"/>
    <p:sldId xmlns:r="http://schemas.openxmlformats.org/officeDocument/2006/relationships" id="260" r:id="Rf2a1a7d48370425f"/>
    <p:sldId xmlns:r="http://schemas.openxmlformats.org/officeDocument/2006/relationships" id="261" r:id="R7f21b0771f2f469c"/>
    <p:sldId xmlns:r="http://schemas.openxmlformats.org/officeDocument/2006/relationships" id="262" r:id="Ra2f0fd00d2bb41c2"/>
    <p:sldId xmlns:r="http://schemas.openxmlformats.org/officeDocument/2006/relationships" id="263" r:id="R9c33057a37b44cce"/>
    <p:sldId xmlns:r="http://schemas.openxmlformats.org/officeDocument/2006/relationships" id="264" r:id="Rbeb20a61cb2b4b0e"/>
    <p:sldId xmlns:r="http://schemas.openxmlformats.org/officeDocument/2006/relationships" id="265" r:id="Re60f6b3244f24b1d"/>
    <p:sldId xmlns:r="http://schemas.openxmlformats.org/officeDocument/2006/relationships" id="266" r:id="R0ecdc30ab97b4ecb"/>
    <p:sldId xmlns:r="http://schemas.openxmlformats.org/officeDocument/2006/relationships" id="267" r:id="R73b358f0890746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d2fd04a9594d73" /><Relationship Type="http://schemas.openxmlformats.org/officeDocument/2006/relationships/slideMaster" Target="/ppt/slideMasters/slideMaster1.xml" Id="R921fd94d8a9f4bfe" /><Relationship Type="http://schemas.openxmlformats.org/officeDocument/2006/relationships/notesMaster" Target="/ppt/notesMasters/notesMaster1.xml" Id="R403998721328494c" /><Relationship Type="http://schemas.openxmlformats.org/officeDocument/2006/relationships/presProps" Target="/ppt/presProps.xml" Id="Rc38c9466a7134b6b" /><Relationship Type="http://schemas.openxmlformats.org/officeDocument/2006/relationships/tableStyles" Target="/ppt/tableStyles.xml" Id="R02230611d3fb4cf7" /><Relationship Type="http://schemas.openxmlformats.org/officeDocument/2006/relationships/slide" Target="/ppt/slides/slide1.xml" Id="Rd6c9161947d54a22" /><Relationship Type="http://schemas.openxmlformats.org/officeDocument/2006/relationships/slide" Target="/ppt/slides/slide2.xml" Id="R71c374bb534b4f04" /><Relationship Type="http://schemas.openxmlformats.org/officeDocument/2006/relationships/slide" Target="/ppt/slides/slide3.xml" Id="R1d37079ddced4480" /><Relationship Type="http://schemas.openxmlformats.org/officeDocument/2006/relationships/slide" Target="/ppt/slides/slide4.xml" Id="Rca2422dab6704d3a" /><Relationship Type="http://schemas.openxmlformats.org/officeDocument/2006/relationships/slide" Target="/ppt/slides/slide5.xml" Id="Rf2a1a7d48370425f" /><Relationship Type="http://schemas.openxmlformats.org/officeDocument/2006/relationships/slide" Target="/ppt/slides/slide6.xml" Id="R7f21b0771f2f469c" /><Relationship Type="http://schemas.openxmlformats.org/officeDocument/2006/relationships/slide" Target="/ppt/slides/slide7.xml" Id="Ra2f0fd00d2bb41c2" /><Relationship Type="http://schemas.openxmlformats.org/officeDocument/2006/relationships/slide" Target="/ppt/slides/slide8.xml" Id="R9c33057a37b44cce" /><Relationship Type="http://schemas.openxmlformats.org/officeDocument/2006/relationships/slide" Target="/ppt/slides/slide9.xml" Id="Rbeb20a61cb2b4b0e" /><Relationship Type="http://schemas.openxmlformats.org/officeDocument/2006/relationships/slide" Target="/ppt/slides/slide10.xml" Id="Re60f6b3244f24b1d" /><Relationship Type="http://schemas.openxmlformats.org/officeDocument/2006/relationships/slide" Target="/ppt/slides/slide11.xml" Id="R0ecdc30ab97b4ecb" /><Relationship Type="http://schemas.openxmlformats.org/officeDocument/2006/relationships/slide" Target="/ppt/slides/slide12.xml" Id="R73b358f0890746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0dc5dca0ae45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2358de9d094070" /><Relationship Type="http://schemas.openxmlformats.org/officeDocument/2006/relationships/notesMaster" Target="/ppt/notesMasters/notesMaster1.xml" Id="R01be4c2953e44c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560742dcf44740" /><Relationship Type="http://schemas.openxmlformats.org/officeDocument/2006/relationships/notesMaster" Target="/ppt/notesMasters/notesMaster1.xml" Id="R558c7f2555bd40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e4717115b3403f" /><Relationship Type="http://schemas.openxmlformats.org/officeDocument/2006/relationships/notesMaster" Target="/ppt/notesMasters/notesMaster1.xml" Id="R1d8d5b93f27241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95470c65d54f82" /><Relationship Type="http://schemas.openxmlformats.org/officeDocument/2006/relationships/notesMaster" Target="/ppt/notesMasters/notesMaster1.xml" Id="Re4d904821ca24d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e360a077344b68" /><Relationship Type="http://schemas.openxmlformats.org/officeDocument/2006/relationships/notesMaster" Target="/ppt/notesMasters/notesMaster1.xml" Id="R6e95d23e10fd4f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8049653ae54e2a" /><Relationship Type="http://schemas.openxmlformats.org/officeDocument/2006/relationships/notesMaster" Target="/ppt/notesMasters/notesMaster1.xml" Id="R2a52bbaa64fa4d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1260ebd3054047" /><Relationship Type="http://schemas.openxmlformats.org/officeDocument/2006/relationships/notesMaster" Target="/ppt/notesMasters/notesMaster1.xml" Id="R07b61059beb24e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8a06b4e51641dc" /><Relationship Type="http://schemas.openxmlformats.org/officeDocument/2006/relationships/notesMaster" Target="/ppt/notesMasters/notesMaster1.xml" Id="Rc2bb2c4069d748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1c5df310b840a6" /><Relationship Type="http://schemas.openxmlformats.org/officeDocument/2006/relationships/notesMaster" Target="/ppt/notesMasters/notesMaster1.xml" Id="Rcb38a2c33c174e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99113e78f14216" /><Relationship Type="http://schemas.openxmlformats.org/officeDocument/2006/relationships/notesMaster" Target="/ppt/notesMasters/notesMaster1.xml" Id="Rd547ddb231e940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b357fcdbbc4dba" /><Relationship Type="http://schemas.openxmlformats.org/officeDocument/2006/relationships/notesMaster" Target="/ppt/notesMasters/notesMaster1.xml" Id="R43e1bec3465948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4b78b1fcf24518" /><Relationship Type="http://schemas.openxmlformats.org/officeDocument/2006/relationships/notesMaster" Target="/ppt/notesMasters/notesMaster1.xml" Id="R802cea0f9ee44a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AegisGrid is a prototype for coordinating city infrastructure during disruption. Our Hyderabad demonstration connects traffic, electricity, metro and ambulance workflows through shared scenario state. We are asking to advance to a focused validation pilot. Do not describe this as a deployed city control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30 seconds. Consider a heavy-rain scenario. Water accumulates on roads, journeys slow and an ambulance may need an alternative corridor. Our model also estimates changes in metro arrivals and electrical demand. Operators need a common account of the event and its consequences. These are scenario relationships, not measured claims about a particular Hyderabad storm.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Solution, 30 seconds. AegisGrid stores one shared simulation state in the database. Operators create a scenario once in the main command center. Each department reads the same time and event context. Rules calculate consequences. For supported workflows, an operator reviews a recommendation before an action changes the scenario. This prevents each portal from inventing its own version of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Interface vision, 20 seconds. This image is the user's visual reference, not a screenshot of the finished product. It illustrates the intended city overview with department context. The implemented prototype already has department portals and central scenario controls, while visual refinement continues. All numbers inside the reference image are illustrative and are not evidence of measured system performance. Source: user-provided D:/download chrome/AegisGrid Hyderabad Command Center.png.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story, 40 seconds. First draw a polygon and choose rainfall intensity. Advance the shared clock. Water accumulates according to the drainage assumptions and affects intersecting roads. Show the same rainfall context alongside metro queues and modeled power demand. Review a drainage recommendation, approve it and observe the changed drainage rate. The model is intentionally inspectable. Thresholds and cross-domain parameters still require calibration.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foundation, 30 seconds. The repository handoff records 374,988 imported road segments and 57 parent metro stations from the source timetable. The electrical inventory contains 5,220 generated equipment assets: 60 substations, 120 power transformers, 240 feeders and 4,800 distribution transformers. These are prototype dataset sizes, not claims of surveyed city coverage. OSM and GTFS provide reference geometry and schedules. Generated profiles fill missing operating measurements with explicit provenance. Source: D:/aegisgrid/SHARED_SIMULATION_HANDOFF.md, dataset snapshot documented on 4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35 seconds. Next.js provides the operator portals. FastAPI coordinates model updates and routing. Supabase stores reference and generated data in separate projects, and a version-checked run record is the shared scenario authority. NetworkX routing uses source roads and scenario costs. Google services and language-model APIs are optional adapters, not the state authority. Rules currently drive the demonstrated drainage recommendation. API-key availability does not mean every integration is live. Source: repository handoff and prior implementation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Differentiation, 25 seconds. Our contribution is the coordination workflow: one event, shared consequences and a traceable action. A schedule-only transit map cannot by itself explain a rainfall-driven queue change, and a map alone does not record why a response was approved. AegisGrid brings these elements together in a prototype. We do not claim a competitive benchmark or fully autonomous city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and adoption, 35 seconds. Begin with one area and one scenario family. Compare an uncoordinated baseline with the shared workflow using identical inputs. Measure decision time, blocked-route violations and queue recovery, rather than claiming an unmeasured percentage improvement. Potential pilot partners are traffic operators, metro operations and a utility or campus team. The first sensor connection can use an existing compatible meter. Commercial procurement and revenue are hypotheses, not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20 seconds. We have a working foundation for shared scenarios, source geography and department workflows. The next stage is to stabilize the interface, calibrate the model and validate one operational scenario with a partner. We seek advancement and domain feedback to make that pilot possible. Close with: AegisGrid helps departments reason about the same event before they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use during questions. Implemented items reflect repository documentation, not a fresh full-system acceptance test. Current limitations include visual regressions under repair, process-local legacy corridor state, uncalibrated rain-to-demand relationships, no full electrical load-flow or protection model, and no live metro GPS or dynamic train dispatch. Google weather and LLM orchestration should be described as integrations to verify and complete, not deployed capabilities. Source: D:/aegisgrid/SHARED_SIMULATION_HANDOFF.md and this task's implementation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answers. Are the measurements real? Reference road geometry and transit schedules come from source datasets. Missing electrical topology and operating measurements are explicitly modeled and stored in the database. Where is AI? Current demonstrated decisions use rules. An LLM can explain or summarize shared state, but proposed actions should pass deterministic checks and operator approval. What does it cost? Reuse existing meters, make bounded API calls, and retain summaries rather than all raw readings forever. Exact production cost needs a scoped pilot and vendor quotes. What stops unsafe action? This prototype does not control real utility protection, signal cabinets or trains. Only authorized integrations should ever enable operational writes.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3002b66b564f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49d1581ead4ab7" /><Relationship Type="http://schemas.openxmlformats.org/officeDocument/2006/relationships/slideLayout" Target="/ppt/slideLayouts/slideLayout1.xml" Id="Rcf8d16b7295a4f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8d16b7295a4f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6f5dc949c0412a" /><Relationship Type="http://schemas.openxmlformats.org/officeDocument/2006/relationships/notesSlide" Target="/ppt/notesSlides/notesSlide1.xml" Id="Rf655c877e29e4e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045d0cbee74ceb" /><Relationship Type="http://schemas.openxmlformats.org/officeDocument/2006/relationships/notesSlide" Target="/ppt/notesSlides/notesSlide2.xml" Id="Rf8fec312c00944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6271cecd7b244ac" /><Relationship Type="http://schemas.openxmlformats.org/officeDocument/2006/relationships/notesSlide" Target="/ppt/notesSlides/notesSlide3.xml" Id="Rd69080e12f0842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5a71d1d6134c63" /><Relationship Type="http://schemas.openxmlformats.org/officeDocument/2006/relationships/image" Target="/ppt/media/image.png" Id="R5e08a8bc60cd4bed" /><Relationship Type="http://schemas.openxmlformats.org/officeDocument/2006/relationships/notesSlide" Target="/ppt/notesSlides/notesSlide4.xml" Id="Ra0358ae3c1014a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f7a4b3e22a47a1" /><Relationship Type="http://schemas.openxmlformats.org/officeDocument/2006/relationships/notesSlide" Target="/ppt/notesSlides/notesSlide5.xml" Id="Rf6c3415e916843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9ccd1d6f09e48df" /><Relationship Type="http://schemas.openxmlformats.org/officeDocument/2006/relationships/notesSlide" Target="/ppt/notesSlides/notesSlide6.xml" Id="R18c704ff8e9f4b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cd74c0dfd6d47b7" /><Relationship Type="http://schemas.openxmlformats.org/officeDocument/2006/relationships/notesSlide" Target="/ppt/notesSlides/notesSlide7.xml" Id="Ree9b78d04e9946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0b64a3fa7564847" /><Relationship Type="http://schemas.openxmlformats.org/officeDocument/2006/relationships/notesSlide" Target="/ppt/notesSlides/notesSlide8.xml" Id="Rb7534c7b8df742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9a3c264c311492d" /><Relationship Type="http://schemas.openxmlformats.org/officeDocument/2006/relationships/notesSlide" Target="/ppt/notesSlides/notesSlide9.xml" Id="Re128e5d2ca434b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475f225d8a4df7" /><Relationship Type="http://schemas.openxmlformats.org/officeDocument/2006/relationships/notesSlide" Target="/ppt/notesSlides/notesSlide10.xml" Id="R43ce74a16f5642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d9e2fb8c3f84217" /><Relationship Type="http://schemas.openxmlformats.org/officeDocument/2006/relationships/notesSlide" Target="/ppt/notesSlides/notesSlide11.xml" Id="R606cdcc4f05341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3805a06354447c9" /><Relationship Type="http://schemas.openxmlformats.org/officeDocument/2006/relationships/notesSlide" Target="/ppt/notesSlides/notesSlide12.xml" Id="R2a79b2dbef5d4ed0" /></Relationships>
</file>

<file path=ppt/slides/slide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466BD7-1FE4-41A4-B595-4CBFABF45BEA}"/>
              </a:ext>
            </a:extLst>
          </p:cNvPr>
          <p:cNvSpPr>
            <a:spLocks xmlns:a="http://schemas.openxmlformats.org/drawingml/2006/main" noGrp="1"/>
          </p:cNvSpPr>
          <p:nvPr/>
        </p:nvSpPr>
        <p:spPr>
          <a:xfrm xmlns:a="http://schemas.openxmlformats.org/drawingml/2006/main">
            <a:off x="609600" y="63722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ADC2CC"/>
                </a:solidFill>
                <a:latin typeface="Arial"/>
                <a:ea typeface="Arial"/>
                <a:cs typeface="Arial"/>
              </a:defRPr>
            </a:pPr>
            <a:r>
              <a:rPr sz="1200" b="1">
                <a:solidFill>
                  <a:srgbClr val="ADC2CC"/>
                </a:solidFill>
                <a:latin typeface="Arial"/>
                <a:ea typeface="Arial"/>
                <a:cs typeface="Arial"/>
              </a:rPr>
              <a:t>AEGISGRID</a:t>
            </a:r>
          </a:p>
        </p:txBody>
      </p:sp>
      <p:sp>
        <p:nvSpPr>
          <p:cNvPr id="2" name="">
            <a:extLst xmlns:a="http://schemas.openxmlformats.org/drawingml/2006/main">
              <a:ext uri="{FF2B5EF4-FFF2-40B4-BE49-F238E27FC236}">
                <a16:creationId xmlns:a16="http://schemas.microsoft.com/office/drawing/2014/main" id="{A228D35D-E14D-4576-9559-63DD988C76A1}"/>
              </a:ext>
            </a:extLst>
          </p:cNvPr>
          <p:cNvSpPr>
            <a:spLocks xmlns:a="http://schemas.openxmlformats.org/drawingml/2006/main" noGrp="1"/>
          </p:cNvSpPr>
          <p:nvPr/>
        </p:nvSpPr>
        <p:spPr>
          <a:xfrm xmlns:a="http://schemas.openxmlformats.org/drawingml/2006/main">
            <a:off x="11049000" y="63722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DC2CC"/>
                </a:solidFill>
                <a:latin typeface="Arial"/>
                <a:ea typeface="Arial"/>
                <a:cs typeface="Arial"/>
              </a:defRPr>
            </a:pPr>
            <a:r>
              <a:rPr sz="1200" b="0">
                <a:solidFill>
                  <a:srgbClr val="ADC2CC"/>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FC1F26F-B501-4710-8499-99B75D8B8A09}"/>
              </a:ext>
            </a:extLst>
          </p:cNvPr>
          <p:cNvSpPr>
            <a:spLocks xmlns:a="http://schemas.openxmlformats.org/drawingml/2006/main" noGrp="1"/>
          </p:cNvSpPr>
          <p:nvPr/>
        </p:nvSpPr>
        <p:spPr>
          <a:xfrm xmlns:a="http://schemas.openxmlformats.org/drawingml/2006/main">
            <a:off x="647700" y="8001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64E6D3"/>
                </a:solidFill>
                <a:latin typeface="Arial"/>
                <a:ea typeface="Arial"/>
                <a:cs typeface="Arial"/>
              </a:defRPr>
            </a:pPr>
            <a:r>
              <a:rPr sz="1500" b="1">
                <a:solidFill>
                  <a:srgbClr val="64E6D3"/>
                </a:solidFill>
                <a:latin typeface="Arial"/>
                <a:ea typeface="Arial"/>
                <a:cs typeface="Arial"/>
              </a:rPr>
              <a:t>FIRST-ROUND HACKATHON PITCH</a:t>
            </a:r>
          </a:p>
        </p:txBody>
      </p:sp>
      <p:sp>
        <p:nvSpPr>
          <p:cNvPr id="4" name="">
            <a:extLst xmlns:a="http://schemas.openxmlformats.org/drawingml/2006/main">
              <a:ext uri="{FF2B5EF4-FFF2-40B4-BE49-F238E27FC236}">
                <a16:creationId xmlns:a16="http://schemas.microsoft.com/office/drawing/2014/main" id="{D77B4749-13D7-4517-AEA7-390F1E8AA726}"/>
              </a:ext>
            </a:extLst>
          </p:cNvPr>
          <p:cNvSpPr>
            <a:spLocks xmlns:a="http://schemas.openxmlformats.org/drawingml/2006/main" noGrp="1"/>
          </p:cNvSpPr>
          <p:nvPr/>
        </p:nvSpPr>
        <p:spPr>
          <a:xfrm xmlns:a="http://schemas.openxmlformats.org/drawingml/2006/main">
            <a:off x="609600" y="1952625"/>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350" b="1">
                <a:solidFill>
                  <a:srgbClr val="F1F6F7"/>
                </a:solidFill>
                <a:latin typeface="Arial"/>
                <a:ea typeface="Arial"/>
                <a:cs typeface="Arial"/>
              </a:defRPr>
            </a:pPr>
            <a:r>
              <a:rPr sz="7350" b="1">
                <a:solidFill>
                  <a:srgbClr val="F1F6F7"/>
                </a:solidFill>
                <a:latin typeface="Arial"/>
                <a:ea typeface="Arial"/>
                <a:cs typeface="Arial"/>
              </a:rPr>
              <a:t>AEGISGRID</a:t>
            </a:r>
          </a:p>
        </p:txBody>
      </p:sp>
      <p:sp>
        <p:nvSpPr>
          <p:cNvPr id="5" name="">
            <a:extLst xmlns:a="http://schemas.openxmlformats.org/drawingml/2006/main">
              <a:ext uri="{FF2B5EF4-FFF2-40B4-BE49-F238E27FC236}">
                <a16:creationId xmlns:a16="http://schemas.microsoft.com/office/drawing/2014/main" id="{39333907-9ABE-4490-A6C3-7F9EC55AD006}"/>
              </a:ext>
            </a:extLst>
          </p:cNvPr>
          <p:cNvSpPr>
            <a:spLocks xmlns:a="http://schemas.openxmlformats.org/drawingml/2006/main" noGrp="1"/>
          </p:cNvSpPr>
          <p:nvPr/>
        </p:nvSpPr>
        <p:spPr>
          <a:xfrm xmlns:a="http://schemas.openxmlformats.org/drawingml/2006/main">
            <a:off x="647700" y="33813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1F6F7"/>
                </a:solidFill>
                <a:latin typeface="Arial"/>
                <a:ea typeface="Arial"/>
                <a:cs typeface="Arial"/>
              </a:defRPr>
            </a:pPr>
            <a:r>
              <a:rPr sz="3225" b="0">
                <a:solidFill>
                  <a:srgbClr val="F1F6F7"/>
                </a:solidFill>
                <a:latin typeface="Arial"/>
                <a:ea typeface="Arial"/>
                <a:cs typeface="Arial"/>
              </a:rPr>
              <a:t>City infrastructure coordination</a:t>
            </a:r>
          </a:p>
        </p:txBody>
      </p:sp>
      <p:sp>
        <p:nvSpPr>
          <p:cNvPr id="6" name="">
            <a:extLst xmlns:a="http://schemas.openxmlformats.org/drawingml/2006/main">
              <a:ext uri="{FF2B5EF4-FFF2-40B4-BE49-F238E27FC236}">
                <a16:creationId xmlns:a16="http://schemas.microsoft.com/office/drawing/2014/main" id="{19F47402-2B83-4204-82C8-BA69E07E4FC3}"/>
              </a:ext>
            </a:extLst>
          </p:cNvPr>
          <p:cNvSpPr>
            <a:spLocks xmlns:a="http://schemas.openxmlformats.org/drawingml/2006/main" noGrp="1"/>
          </p:cNvSpPr>
          <p:nvPr/>
        </p:nvSpPr>
        <p:spPr>
          <a:xfrm xmlns:a="http://schemas.openxmlformats.org/drawingml/2006/main">
            <a:off x="647700" y="4314825"/>
            <a:ext cx="9429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ADC2CC"/>
                </a:solidFill>
                <a:latin typeface="Arial"/>
                <a:ea typeface="Arial"/>
                <a:cs typeface="Arial"/>
              </a:defRPr>
            </a:pPr>
            <a:r>
              <a:rPr sz="2250" b="0">
                <a:solidFill>
                  <a:srgbClr val="ADC2CC"/>
                </a:solidFill>
                <a:latin typeface="Arial"/>
                <a:ea typeface="Arial"/>
                <a:cs typeface="Arial"/>
              </a:rPr>
              <a:t>One shared scenario across traffic, power, metro and emergency response</a:t>
            </a:r>
          </a:p>
        </p:txBody>
      </p:sp>
      <p:sp>
        <p:nvSpPr>
          <p:cNvPr id="7" name="">
            <a:extLst xmlns:a="http://schemas.openxmlformats.org/drawingml/2006/main">
              <a:ext uri="{FF2B5EF4-FFF2-40B4-BE49-F238E27FC236}">
                <a16:creationId xmlns:a16="http://schemas.microsoft.com/office/drawing/2014/main" id="{53DCF2BB-D120-4DF0-AC49-A20E80A4DD74}"/>
              </a:ext>
            </a:extLst>
          </p:cNvPr>
          <p:cNvSpPr>
            <a:spLocks xmlns:a="http://schemas.openxmlformats.org/drawingml/2006/main" noGrp="1"/>
          </p:cNvSpPr>
          <p:nvPr/>
        </p:nvSpPr>
        <p:spPr>
          <a:xfrm xmlns:a="http://schemas.openxmlformats.org/drawingml/2006/main">
            <a:off x="647700" y="5638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64E6D3"/>
                </a:solidFill>
                <a:latin typeface="Arial"/>
                <a:ea typeface="Arial"/>
                <a:cs typeface="Arial"/>
              </a:defRPr>
            </a:pPr>
            <a:r>
              <a:rPr sz="1500" b="1">
                <a:solidFill>
                  <a:srgbClr val="64E6D3"/>
                </a:solidFill>
                <a:latin typeface="Arial"/>
                <a:ea typeface="Arial"/>
                <a:cs typeface="Arial"/>
              </a:rPr>
              <a:t>HYDERABAD PROTOTYPE</a:t>
            </a:r>
          </a:p>
        </p:txBody>
      </p:sp>
    </p:spTree>
    <p:extLst>
      <p:ext uri="{BB962C8B-B14F-4D97-AF65-F5344CB8AC3E}">
        <p14:creationId xmlns:p14="http://schemas.microsoft.com/office/powerpoint/2010/main" val="954914981"/>
      </p:ext>
    </p:extLst>
  </p:cSld>
</p:sld>
</file>

<file path=ppt/slides/slide2.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BA81765-8859-4A26-BAB0-A3957150ADAD}"/>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E6D3"/>
                </a:solidFill>
                <a:latin typeface="Arial"/>
                <a:ea typeface="Arial"/>
                <a:cs typeface="Arial"/>
              </a:defRPr>
            </a:pPr>
            <a:r>
              <a:rPr sz="1275" b="1">
                <a:solidFill>
                  <a:srgbClr val="64E6D3"/>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44741A1F-FF95-4FAF-BE53-62A1FC7F8746}"/>
              </a:ext>
            </a:extLst>
          </p:cNvPr>
          <p:cNvSpPr>
            <a:spLocks xmlns:a="http://schemas.openxmlformats.org/drawingml/2006/main" noGrp="1"/>
          </p:cNvSpPr>
          <p:nvPr/>
        </p:nvSpPr>
        <p:spPr>
          <a:xfrm xmlns:a="http://schemas.openxmlformats.org/drawingml/2006/main">
            <a:off x="609600" y="781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1F6F7"/>
                </a:solidFill>
                <a:latin typeface="Arial"/>
                <a:ea typeface="Arial"/>
                <a:cs typeface="Arial"/>
              </a:defRPr>
            </a:pPr>
            <a:r>
              <a:rPr sz="3375" b="1">
                <a:solidFill>
                  <a:srgbClr val="F1F6F7"/>
                </a:solidFill>
                <a:latin typeface="Arial"/>
                <a:ea typeface="Arial"/>
                <a:cs typeface="Arial"/>
              </a:rPr>
              <a:t>One storm affects several control rooms</a:t>
            </a:r>
          </a:p>
        </p:txBody>
      </p:sp>
      <p:sp>
        <p:nvSpPr>
          <p:cNvPr id="3" name="">
            <a:extLst xmlns:a="http://schemas.openxmlformats.org/drawingml/2006/main">
              <a:ext uri="{FF2B5EF4-FFF2-40B4-BE49-F238E27FC236}">
                <a16:creationId xmlns:a16="http://schemas.microsoft.com/office/drawing/2014/main" id="{AF2A2787-7763-42E1-8B9E-330A3164DEB3}"/>
              </a:ext>
            </a:extLst>
          </p:cNvPr>
          <p:cNvSpPr>
            <a:spLocks xmlns:a="http://schemas.openxmlformats.org/drawingml/2006/main" noGrp="1"/>
          </p:cNvSpPr>
          <p:nvPr/>
        </p:nvSpPr>
        <p:spPr>
          <a:xfrm xmlns:a="http://schemas.openxmlformats.org/drawingml/2006/main">
            <a:off x="609600" y="63722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ADC2CC"/>
                </a:solidFill>
                <a:latin typeface="Arial"/>
                <a:ea typeface="Arial"/>
                <a:cs typeface="Arial"/>
              </a:defRPr>
            </a:pPr>
            <a:r>
              <a:rPr sz="1200" b="1">
                <a:solidFill>
                  <a:srgbClr val="ADC2CC"/>
                </a:solidFill>
                <a:latin typeface="Arial"/>
                <a:ea typeface="Arial"/>
                <a:cs typeface="Arial"/>
              </a:rPr>
              <a:t>AEGISGRID</a:t>
            </a:r>
          </a:p>
        </p:txBody>
      </p:sp>
      <p:sp>
        <p:nvSpPr>
          <p:cNvPr id="4" name="">
            <a:extLst xmlns:a="http://schemas.openxmlformats.org/drawingml/2006/main">
              <a:ext uri="{FF2B5EF4-FFF2-40B4-BE49-F238E27FC236}">
                <a16:creationId xmlns:a16="http://schemas.microsoft.com/office/drawing/2014/main" id="{F3582094-EA26-4FD4-B3EB-79F62007EAE6}"/>
              </a:ext>
            </a:extLst>
          </p:cNvPr>
          <p:cNvSpPr>
            <a:spLocks xmlns:a="http://schemas.openxmlformats.org/drawingml/2006/main" noGrp="1"/>
          </p:cNvSpPr>
          <p:nvPr/>
        </p:nvSpPr>
        <p:spPr>
          <a:xfrm xmlns:a="http://schemas.openxmlformats.org/drawingml/2006/main">
            <a:off x="11049000" y="63722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DC2CC"/>
                </a:solidFill>
                <a:latin typeface="Arial"/>
                <a:ea typeface="Arial"/>
                <a:cs typeface="Arial"/>
              </a:defRPr>
            </a:pPr>
            <a:r>
              <a:rPr sz="1200" b="0">
                <a:solidFill>
                  <a:srgbClr val="ADC2CC"/>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A7BCA1A-0D60-493E-8AA5-F4F4733EC921}"/>
              </a:ext>
            </a:extLst>
          </p:cNvPr>
          <p:cNvSpPr>
            <a:spLocks xmlns:a="http://schemas.openxmlformats.org/drawingml/2006/main" noGrp="1"/>
          </p:cNvSpPr>
          <p:nvPr/>
        </p:nvSpPr>
        <p:spPr>
          <a:xfrm xmlns:a="http://schemas.openxmlformats.org/drawingml/2006/main">
            <a:off x="609600" y="2047875"/>
            <a:ext cx="3619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64E6D3"/>
                </a:solidFill>
                <a:latin typeface="Arial"/>
                <a:ea typeface="Arial"/>
                <a:cs typeface="Arial"/>
              </a:defRPr>
            </a:pPr>
            <a:r>
              <a:rPr sz="7050" b="1">
                <a:solidFill>
                  <a:srgbClr val="64E6D3"/>
                </a:solidFill>
                <a:latin typeface="Arial"/>
                <a:ea typeface="Arial"/>
                <a:cs typeface="Arial"/>
              </a:rPr>
              <a:t>RAIN</a:t>
            </a:r>
          </a:p>
        </p:txBody>
      </p:sp>
      <p:sp>
        <p:nvSpPr>
          <p:cNvPr id="6" name="">
            <a:extLst xmlns:a="http://schemas.openxmlformats.org/drawingml/2006/main">
              <a:ext uri="{FF2B5EF4-FFF2-40B4-BE49-F238E27FC236}">
                <a16:creationId xmlns:a16="http://schemas.microsoft.com/office/drawing/2014/main" id="{67EC5615-25EE-4898-A49C-45783524E145}"/>
              </a:ext>
            </a:extLst>
          </p:cNvPr>
          <p:cNvSpPr>
            <a:spLocks xmlns:a="http://schemas.openxmlformats.org/drawingml/2006/main" noGrp="1"/>
          </p:cNvSpPr>
          <p:nvPr/>
        </p:nvSpPr>
        <p:spPr>
          <a:xfrm xmlns:a="http://schemas.openxmlformats.org/drawingml/2006/main">
            <a:off x="666750" y="32480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1F6F7"/>
                </a:solidFill>
                <a:latin typeface="Arial"/>
                <a:ea typeface="Arial"/>
                <a:cs typeface="Arial"/>
              </a:defRPr>
            </a:pPr>
            <a:r>
              <a:rPr sz="2325" b="0">
                <a:solidFill>
                  <a:srgbClr val="F1F6F7"/>
                </a:solidFill>
                <a:latin typeface="Arial"/>
                <a:ea typeface="Arial"/>
                <a:cs typeface="Arial"/>
              </a:rPr>
              <a:t>A shared cause</a:t>
            </a:r>
          </a:p>
        </p:txBody>
      </p:sp>
      <p:sp>
        <p:nvSpPr>
          <p:cNvPr id="7" name="">
            <a:extLst xmlns:a="http://schemas.openxmlformats.org/drawingml/2006/main">
              <a:ext uri="{FF2B5EF4-FFF2-40B4-BE49-F238E27FC236}">
                <a16:creationId xmlns:a16="http://schemas.microsoft.com/office/drawing/2014/main" id="{9B59D5F1-34C4-4462-83F5-63B9FA27A62E}"/>
              </a:ext>
            </a:extLst>
          </p:cNvPr>
          <p:cNvSpPr>
            <a:spLocks xmlns:a="http://schemas.openxmlformats.org/drawingml/2006/main" noGrp="1"/>
          </p:cNvSpPr>
          <p:nvPr/>
        </p:nvSpPr>
        <p:spPr>
          <a:xfrm xmlns:a="http://schemas.openxmlformats.org/drawingml/2006/main">
            <a:off x="666750" y="37909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ADC2CC"/>
                </a:solidFill>
                <a:latin typeface="Arial"/>
                <a:ea typeface="Arial"/>
                <a:cs typeface="Arial"/>
              </a:defRPr>
            </a:pPr>
            <a:r>
              <a:rPr sz="2325" b="0">
                <a:solidFill>
                  <a:srgbClr val="ADC2CC"/>
                </a:solidFill>
                <a:latin typeface="Arial"/>
                <a:ea typeface="Arial"/>
                <a:cs typeface="Arial"/>
              </a:rPr>
              <a:t>Separate decisions</a:t>
            </a:r>
          </a:p>
        </p:txBody>
      </p:sp>
      <p:sp>
        <p:nvSpPr>
          <p:cNvPr id="8" name="">
            <a:extLst xmlns:a="http://schemas.openxmlformats.org/drawingml/2006/main">
              <a:ext uri="{FF2B5EF4-FFF2-40B4-BE49-F238E27FC236}">
                <a16:creationId xmlns:a16="http://schemas.microsoft.com/office/drawing/2014/main" id="{8953F2AD-8BDC-4018-B5E6-9EB6221953ED}"/>
              </a:ext>
            </a:extLst>
          </p:cNvPr>
          <p:cNvSpPr>
            <a:spLocks xmlns:a="http://schemas.openxmlformats.org/drawingml/2006/main" noGrp="1"/>
          </p:cNvSpPr>
          <p:nvPr/>
        </p:nvSpPr>
        <p:spPr>
          <a:xfrm xmlns:a="http://schemas.openxmlformats.org/drawingml/2006/main">
            <a:off x="4905375" y="200025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4E6D3"/>
                </a:solidFill>
                <a:latin typeface="Arial"/>
                <a:ea typeface="Arial"/>
                <a:cs typeface="Arial"/>
              </a:defRPr>
            </a:pPr>
            <a:r>
              <a:rPr sz="2175" b="1">
                <a:solidFill>
                  <a:srgbClr val="64E6D3"/>
                </a:solidFill>
                <a:latin typeface="Arial"/>
                <a:ea typeface="Arial"/>
                <a:cs typeface="Arial"/>
              </a:rPr>
              <a:t>Traffic and ambulance</a:t>
            </a:r>
          </a:p>
        </p:txBody>
      </p:sp>
      <p:sp>
        <p:nvSpPr>
          <p:cNvPr id="9" name="">
            <a:extLst xmlns:a="http://schemas.openxmlformats.org/drawingml/2006/main">
              <a:ext uri="{FF2B5EF4-FFF2-40B4-BE49-F238E27FC236}">
                <a16:creationId xmlns:a16="http://schemas.microsoft.com/office/drawing/2014/main" id="{7673A09A-F448-41C0-AA92-8D6445D6B563}"/>
              </a:ext>
            </a:extLst>
          </p:cNvPr>
          <p:cNvSpPr>
            <a:spLocks xmlns:a="http://schemas.openxmlformats.org/drawingml/2006/main" noGrp="1"/>
          </p:cNvSpPr>
          <p:nvPr/>
        </p:nvSpPr>
        <p:spPr>
          <a:xfrm xmlns:a="http://schemas.openxmlformats.org/drawingml/2006/main">
            <a:off x="4905375" y="2524125"/>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Waterlogged roads change access and corridor choices.</a:t>
            </a:r>
          </a:p>
        </p:txBody>
      </p:sp>
      <p:sp>
        <p:nvSpPr>
          <p:cNvPr id="10" name="">
            <a:extLst xmlns:a="http://schemas.openxmlformats.org/drawingml/2006/main">
              <a:ext uri="{FF2B5EF4-FFF2-40B4-BE49-F238E27FC236}">
                <a16:creationId xmlns:a16="http://schemas.microsoft.com/office/drawing/2014/main" id="{679C2E45-8241-4CAD-A06D-157ADC8F08B0}"/>
              </a:ext>
            </a:extLst>
          </p:cNvPr>
          <p:cNvSpPr>
            <a:spLocks xmlns:a="http://schemas.openxmlformats.org/drawingml/2006/main" noGrp="1"/>
          </p:cNvSpPr>
          <p:nvPr/>
        </p:nvSpPr>
        <p:spPr>
          <a:xfrm xmlns:a="http://schemas.openxmlformats.org/drawingml/2006/main">
            <a:off x="4905375" y="342900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4E6D3"/>
                </a:solidFill>
                <a:latin typeface="Arial"/>
                <a:ea typeface="Arial"/>
                <a:cs typeface="Arial"/>
              </a:defRPr>
            </a:pPr>
            <a:r>
              <a:rPr sz="2175" b="1">
                <a:solidFill>
                  <a:srgbClr val="64E6D3"/>
                </a:solidFill>
                <a:latin typeface="Arial"/>
                <a:ea typeface="Arial"/>
                <a:cs typeface="Arial"/>
              </a:rPr>
              <a:t>Metro</a:t>
            </a:r>
          </a:p>
        </p:txBody>
      </p:sp>
      <p:sp>
        <p:nvSpPr>
          <p:cNvPr id="11" name="">
            <a:extLst xmlns:a="http://schemas.openxmlformats.org/drawingml/2006/main">
              <a:ext uri="{FF2B5EF4-FFF2-40B4-BE49-F238E27FC236}">
                <a16:creationId xmlns:a16="http://schemas.microsoft.com/office/drawing/2014/main" id="{8E9D2169-5A56-4BB4-9A12-C6429E168980}"/>
              </a:ext>
            </a:extLst>
          </p:cNvPr>
          <p:cNvSpPr>
            <a:spLocks xmlns:a="http://schemas.openxmlformats.org/drawingml/2006/main" noGrp="1"/>
          </p:cNvSpPr>
          <p:nvPr/>
        </p:nvSpPr>
        <p:spPr>
          <a:xfrm xmlns:a="http://schemas.openxmlformats.org/drawingml/2006/main">
            <a:off x="4905375" y="3952875"/>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Disruption can shift passenger demand to stations.</a:t>
            </a:r>
          </a:p>
        </p:txBody>
      </p:sp>
      <p:sp>
        <p:nvSpPr>
          <p:cNvPr id="12" name="">
            <a:extLst xmlns:a="http://schemas.openxmlformats.org/drawingml/2006/main">
              <a:ext uri="{FF2B5EF4-FFF2-40B4-BE49-F238E27FC236}">
                <a16:creationId xmlns:a16="http://schemas.microsoft.com/office/drawing/2014/main" id="{8BADB8C9-D63C-4005-8258-C310C6FE9B01}"/>
              </a:ext>
            </a:extLst>
          </p:cNvPr>
          <p:cNvSpPr>
            <a:spLocks xmlns:a="http://schemas.openxmlformats.org/drawingml/2006/main" noGrp="1"/>
          </p:cNvSpPr>
          <p:nvPr/>
        </p:nvSpPr>
        <p:spPr>
          <a:xfrm xmlns:a="http://schemas.openxmlformats.org/drawingml/2006/main">
            <a:off x="4905375" y="485775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4E6D3"/>
                </a:solidFill>
                <a:latin typeface="Arial"/>
                <a:ea typeface="Arial"/>
                <a:cs typeface="Arial"/>
              </a:defRPr>
            </a:pPr>
            <a:r>
              <a:rPr sz="2175" b="1">
                <a:solidFill>
                  <a:srgbClr val="64E6D3"/>
                </a:solidFill>
                <a:latin typeface="Arial"/>
                <a:ea typeface="Arial"/>
                <a:cs typeface="Arial"/>
              </a:rPr>
              <a:t>Electricity</a:t>
            </a:r>
          </a:p>
        </p:txBody>
      </p:sp>
      <p:sp>
        <p:nvSpPr>
          <p:cNvPr id="13" name="">
            <a:extLst xmlns:a="http://schemas.openxmlformats.org/drawingml/2006/main">
              <a:ext uri="{FF2B5EF4-FFF2-40B4-BE49-F238E27FC236}">
                <a16:creationId xmlns:a16="http://schemas.microsoft.com/office/drawing/2014/main" id="{4320D4D4-5668-46FB-A4D3-216FAA91CB37}"/>
              </a:ext>
            </a:extLst>
          </p:cNvPr>
          <p:cNvSpPr>
            <a:spLocks xmlns:a="http://schemas.openxmlformats.org/drawingml/2006/main" noGrp="1"/>
          </p:cNvSpPr>
          <p:nvPr/>
        </p:nvSpPr>
        <p:spPr>
          <a:xfrm xmlns:a="http://schemas.openxmlformats.org/drawingml/2006/main">
            <a:off x="4905375" y="5381625"/>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Pumping and demand changes can alter equipment loading.</a:t>
            </a:r>
          </a:p>
        </p:txBody>
      </p:sp>
    </p:spTree>
    <p:extLst>
      <p:ext uri="{BB962C8B-B14F-4D97-AF65-F5344CB8AC3E}">
        <p14:creationId xmlns:p14="http://schemas.microsoft.com/office/powerpoint/2010/main" val="910343653"/>
      </p:ext>
    </p:extLst>
  </p:cSld>
</p:sld>
</file>

<file path=ppt/slides/slide3.xml><?xml version="1.0" encoding="utf-8"?>
<p:sld xmlns:p="http://schemas.openxmlformats.org/presentationml/2006/main">
  <p:cSld>
    <p:bg>
      <p:bgPr>
        <a:solidFill xmlns:a="http://schemas.openxmlformats.org/drawingml/2006/main">
          <a:srgbClr val="EDF3F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4D44311-7628-4984-8F2C-C9484EFED82C}"/>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6F66"/>
                </a:solidFill>
                <a:latin typeface="Arial"/>
                <a:ea typeface="Arial"/>
                <a:cs typeface="Arial"/>
              </a:defRPr>
            </a:pPr>
            <a:r>
              <a:rPr sz="1275" b="1">
                <a:solidFill>
                  <a:srgbClr val="166F66"/>
                </a:solidFill>
                <a:latin typeface="Arial"/>
                <a:ea typeface="Arial"/>
                <a:cs typeface="Arial"/>
              </a:rPr>
              <a:t>THE SOLUTION</a:t>
            </a:r>
          </a:p>
        </p:txBody>
      </p:sp>
      <p:sp>
        <p:nvSpPr>
          <p:cNvPr id="2" name="">
            <a:extLst xmlns:a="http://schemas.openxmlformats.org/drawingml/2006/main">
              <a:ext uri="{FF2B5EF4-FFF2-40B4-BE49-F238E27FC236}">
                <a16:creationId xmlns:a16="http://schemas.microsoft.com/office/drawing/2014/main" id="{9DA4105B-6DB8-4328-B9CE-3CACAE30DD29}"/>
              </a:ext>
            </a:extLst>
          </p:cNvPr>
          <p:cNvSpPr>
            <a:spLocks xmlns:a="http://schemas.openxmlformats.org/drawingml/2006/main" noGrp="1"/>
          </p:cNvSpPr>
          <p:nvPr/>
        </p:nvSpPr>
        <p:spPr>
          <a:xfrm xmlns:a="http://schemas.openxmlformats.org/drawingml/2006/main">
            <a:off x="609600" y="781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02B36"/>
                </a:solidFill>
                <a:latin typeface="Arial"/>
                <a:ea typeface="Arial"/>
                <a:cs typeface="Arial"/>
              </a:defRPr>
            </a:pPr>
            <a:r>
              <a:rPr sz="3375" b="1">
                <a:solidFill>
                  <a:srgbClr val="102B36"/>
                </a:solidFill>
                <a:latin typeface="Arial"/>
                <a:ea typeface="Arial"/>
                <a:cs typeface="Arial"/>
              </a:rPr>
              <a:t>A common state for every department</a:t>
            </a:r>
          </a:p>
        </p:txBody>
      </p:sp>
      <p:sp>
        <p:nvSpPr>
          <p:cNvPr id="3" name="">
            <a:extLst xmlns:a="http://schemas.openxmlformats.org/drawingml/2006/main">
              <a:ext uri="{FF2B5EF4-FFF2-40B4-BE49-F238E27FC236}">
                <a16:creationId xmlns:a16="http://schemas.microsoft.com/office/drawing/2014/main" id="{B401E775-85DB-412A-9F11-37C055186C1B}"/>
              </a:ext>
            </a:extLst>
          </p:cNvPr>
          <p:cNvSpPr>
            <a:spLocks xmlns:a="http://schemas.openxmlformats.org/drawingml/2006/main" noGrp="1"/>
          </p:cNvSpPr>
          <p:nvPr/>
        </p:nvSpPr>
        <p:spPr>
          <a:xfrm xmlns:a="http://schemas.openxmlformats.org/drawingml/2006/main">
            <a:off x="609600" y="63722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496370"/>
                </a:solidFill>
                <a:latin typeface="Arial"/>
                <a:ea typeface="Arial"/>
                <a:cs typeface="Arial"/>
              </a:defRPr>
            </a:pPr>
            <a:r>
              <a:rPr sz="1200" b="1">
                <a:solidFill>
                  <a:srgbClr val="496370"/>
                </a:solidFill>
                <a:latin typeface="Arial"/>
                <a:ea typeface="Arial"/>
                <a:cs typeface="Arial"/>
              </a:rPr>
              <a:t>AEGISGRID</a:t>
            </a:r>
          </a:p>
        </p:txBody>
      </p:sp>
      <p:sp>
        <p:nvSpPr>
          <p:cNvPr id="4" name="">
            <a:extLst xmlns:a="http://schemas.openxmlformats.org/drawingml/2006/main">
              <a:ext uri="{FF2B5EF4-FFF2-40B4-BE49-F238E27FC236}">
                <a16:creationId xmlns:a16="http://schemas.microsoft.com/office/drawing/2014/main" id="{629607CB-FF6C-43E7-8D0D-3E2C309209C2}"/>
              </a:ext>
            </a:extLst>
          </p:cNvPr>
          <p:cNvSpPr>
            <a:spLocks xmlns:a="http://schemas.openxmlformats.org/drawingml/2006/main" noGrp="1"/>
          </p:cNvSpPr>
          <p:nvPr/>
        </p:nvSpPr>
        <p:spPr>
          <a:xfrm xmlns:a="http://schemas.openxmlformats.org/drawingml/2006/main">
            <a:off x="11049000" y="63722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96370"/>
                </a:solidFill>
                <a:latin typeface="Arial"/>
                <a:ea typeface="Arial"/>
                <a:cs typeface="Arial"/>
              </a:defRPr>
            </a:pPr>
            <a:r>
              <a:rPr sz="1200" b="0">
                <a:solidFill>
                  <a:srgbClr val="496370"/>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A8D4DE7-A146-4462-AEE2-35D37D3E87BF}"/>
              </a:ext>
            </a:extLst>
          </p:cNvPr>
          <p:cNvSpPr>
            <a:spLocks xmlns:a="http://schemas.openxmlformats.org/drawingml/2006/main" noGrp="1"/>
          </p:cNvSpPr>
          <p:nvPr/>
        </p:nvSpPr>
        <p:spPr>
          <a:xfrm xmlns:a="http://schemas.openxmlformats.org/drawingml/2006/main">
            <a:off x="609600" y="223837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68477"/>
                </a:solidFill>
                <a:latin typeface="Arial"/>
                <a:ea typeface="Arial"/>
                <a:cs typeface="Arial"/>
              </a:defRPr>
            </a:pPr>
            <a:r>
              <a:rPr sz="4650" b="1">
                <a:solidFill>
                  <a:srgbClr val="168477"/>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BBE0D829-45A0-4191-B19C-8AEA2B252E70}"/>
              </a:ext>
            </a:extLst>
          </p:cNvPr>
          <p:cNvSpPr>
            <a:spLocks xmlns:a="http://schemas.openxmlformats.org/drawingml/2006/main" noGrp="1"/>
          </p:cNvSpPr>
          <p:nvPr/>
        </p:nvSpPr>
        <p:spPr>
          <a:xfrm xmlns:a="http://schemas.openxmlformats.org/drawingml/2006/main">
            <a:off x="609600" y="3209925"/>
            <a:ext cx="319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B36"/>
                </a:solidFill>
                <a:latin typeface="Arial"/>
                <a:ea typeface="Arial"/>
                <a:cs typeface="Arial"/>
              </a:defRPr>
            </a:pPr>
            <a:r>
              <a:rPr sz="2325" b="1">
                <a:solidFill>
                  <a:srgbClr val="102B36"/>
                </a:solidFill>
                <a:latin typeface="Arial"/>
                <a:ea typeface="Arial"/>
                <a:cs typeface="Arial"/>
              </a:rPr>
              <a:t>Set the event</a:t>
            </a:r>
          </a:p>
        </p:txBody>
      </p:sp>
      <p:sp>
        <p:nvSpPr>
          <p:cNvPr id="7" name="">
            <a:extLst xmlns:a="http://schemas.openxmlformats.org/drawingml/2006/main">
              <a:ext uri="{FF2B5EF4-FFF2-40B4-BE49-F238E27FC236}">
                <a16:creationId xmlns:a16="http://schemas.microsoft.com/office/drawing/2014/main" id="{57CB4F0C-317E-49C8-BEFE-B5EF8403D635}"/>
              </a:ext>
            </a:extLst>
          </p:cNvPr>
          <p:cNvSpPr>
            <a:spLocks xmlns:a="http://schemas.openxmlformats.org/drawingml/2006/main" noGrp="1"/>
          </p:cNvSpPr>
          <p:nvPr/>
        </p:nvSpPr>
        <p:spPr>
          <a:xfrm xmlns:a="http://schemas.openxmlformats.org/drawingml/2006/main">
            <a:off x="609600" y="3962400"/>
            <a:ext cx="3190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496370"/>
                </a:solidFill>
                <a:latin typeface="Arial"/>
                <a:ea typeface="Arial"/>
                <a:cs typeface="Arial"/>
              </a:defRPr>
            </a:pPr>
            <a:r>
              <a:rPr sz="2100" b="0">
                <a:solidFill>
                  <a:srgbClr val="496370"/>
                </a:solidFill>
                <a:latin typeface="Arial"/>
                <a:ea typeface="Arial"/>
                <a:cs typeface="Arial"/>
              </a:rPr>
              <a:t>Select an area, intensity and simulation time.</a:t>
            </a:r>
          </a:p>
        </p:txBody>
      </p:sp>
      <p:sp>
        <p:nvSpPr>
          <p:cNvPr id="8" name="">
            <a:extLst xmlns:a="http://schemas.openxmlformats.org/drawingml/2006/main">
              <a:ext uri="{FF2B5EF4-FFF2-40B4-BE49-F238E27FC236}">
                <a16:creationId xmlns:a16="http://schemas.microsoft.com/office/drawing/2014/main" id="{7D2ACAE3-E720-47DF-A231-61346B606F46}"/>
              </a:ext>
            </a:extLst>
          </p:cNvPr>
          <p:cNvSpPr>
            <a:spLocks xmlns:a="http://schemas.openxmlformats.org/drawingml/2006/main" noGrp="1"/>
          </p:cNvSpPr>
          <p:nvPr/>
        </p:nvSpPr>
        <p:spPr>
          <a:xfrm xmlns:a="http://schemas.openxmlformats.org/drawingml/2006/main">
            <a:off x="4343400" y="223837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68477"/>
                </a:solidFill>
                <a:latin typeface="Arial"/>
                <a:ea typeface="Arial"/>
                <a:cs typeface="Arial"/>
              </a:defRPr>
            </a:pPr>
            <a:r>
              <a:rPr sz="4650" b="1">
                <a:solidFill>
                  <a:srgbClr val="168477"/>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AE91BA07-22CA-4A1A-8010-033E01566BF0}"/>
              </a:ext>
            </a:extLst>
          </p:cNvPr>
          <p:cNvSpPr>
            <a:spLocks xmlns:a="http://schemas.openxmlformats.org/drawingml/2006/main" noGrp="1"/>
          </p:cNvSpPr>
          <p:nvPr/>
        </p:nvSpPr>
        <p:spPr>
          <a:xfrm xmlns:a="http://schemas.openxmlformats.org/drawingml/2006/main">
            <a:off x="4343400" y="3209925"/>
            <a:ext cx="319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B36"/>
                </a:solidFill>
                <a:latin typeface="Arial"/>
                <a:ea typeface="Arial"/>
                <a:cs typeface="Arial"/>
              </a:defRPr>
            </a:pPr>
            <a:r>
              <a:rPr sz="2325" b="1">
                <a:solidFill>
                  <a:srgbClr val="102B36"/>
                </a:solidFill>
                <a:latin typeface="Arial"/>
                <a:ea typeface="Arial"/>
                <a:cs typeface="Arial"/>
              </a:rPr>
              <a:t>Calculate effects</a:t>
            </a:r>
          </a:p>
        </p:txBody>
      </p:sp>
      <p:sp>
        <p:nvSpPr>
          <p:cNvPr id="10" name="">
            <a:extLst xmlns:a="http://schemas.openxmlformats.org/drawingml/2006/main">
              <a:ext uri="{FF2B5EF4-FFF2-40B4-BE49-F238E27FC236}">
                <a16:creationId xmlns:a16="http://schemas.microsoft.com/office/drawing/2014/main" id="{48ABA8F5-0DE2-47E8-B4B5-0C920B40FCD5}"/>
              </a:ext>
            </a:extLst>
          </p:cNvPr>
          <p:cNvSpPr>
            <a:spLocks xmlns:a="http://schemas.openxmlformats.org/drawingml/2006/main" noGrp="1"/>
          </p:cNvSpPr>
          <p:nvPr/>
        </p:nvSpPr>
        <p:spPr>
          <a:xfrm xmlns:a="http://schemas.openxmlformats.org/drawingml/2006/main">
            <a:off x="4343400" y="3962400"/>
            <a:ext cx="3190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496370"/>
                </a:solidFill>
                <a:latin typeface="Arial"/>
                <a:ea typeface="Arial"/>
                <a:cs typeface="Arial"/>
              </a:defRPr>
            </a:pPr>
            <a:r>
              <a:rPr sz="2100" b="0">
                <a:solidFill>
                  <a:srgbClr val="496370"/>
                </a:solidFill>
                <a:latin typeface="Arial"/>
                <a:ea typeface="Arial"/>
                <a:cs typeface="Arial"/>
              </a:rPr>
              <a:t>Update water, road conditions, demand and queues.</a:t>
            </a:r>
          </a:p>
        </p:txBody>
      </p:sp>
      <p:sp>
        <p:nvSpPr>
          <p:cNvPr id="11" name="">
            <a:extLst xmlns:a="http://schemas.openxmlformats.org/drawingml/2006/main">
              <a:ext uri="{FF2B5EF4-FFF2-40B4-BE49-F238E27FC236}">
                <a16:creationId xmlns:a16="http://schemas.microsoft.com/office/drawing/2014/main" id="{60729ECD-473D-41AF-99F4-7C59946D2C11}"/>
              </a:ext>
            </a:extLst>
          </p:cNvPr>
          <p:cNvSpPr>
            <a:spLocks xmlns:a="http://schemas.openxmlformats.org/drawingml/2006/main" noGrp="1"/>
          </p:cNvSpPr>
          <p:nvPr/>
        </p:nvSpPr>
        <p:spPr>
          <a:xfrm xmlns:a="http://schemas.openxmlformats.org/drawingml/2006/main">
            <a:off x="8077200" y="223837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68477"/>
                </a:solidFill>
                <a:latin typeface="Arial"/>
                <a:ea typeface="Arial"/>
                <a:cs typeface="Arial"/>
              </a:defRPr>
            </a:pPr>
            <a:r>
              <a:rPr sz="4650" b="1">
                <a:solidFill>
                  <a:srgbClr val="168477"/>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25908E0F-CE87-4DD9-9F4A-AA7E07F9AA89}"/>
              </a:ext>
            </a:extLst>
          </p:cNvPr>
          <p:cNvSpPr>
            <a:spLocks xmlns:a="http://schemas.openxmlformats.org/drawingml/2006/main" noGrp="1"/>
          </p:cNvSpPr>
          <p:nvPr/>
        </p:nvSpPr>
        <p:spPr>
          <a:xfrm xmlns:a="http://schemas.openxmlformats.org/drawingml/2006/main">
            <a:off x="8077200" y="3209925"/>
            <a:ext cx="319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B36"/>
                </a:solidFill>
                <a:latin typeface="Arial"/>
                <a:ea typeface="Arial"/>
                <a:cs typeface="Arial"/>
              </a:defRPr>
            </a:pPr>
            <a:r>
              <a:rPr sz="2325" b="1">
                <a:solidFill>
                  <a:srgbClr val="102B36"/>
                </a:solidFill>
                <a:latin typeface="Arial"/>
                <a:ea typeface="Arial"/>
                <a:cs typeface="Arial"/>
              </a:rPr>
              <a:t>Review the response</a:t>
            </a:r>
          </a:p>
        </p:txBody>
      </p:sp>
      <p:sp>
        <p:nvSpPr>
          <p:cNvPr id="13" name="">
            <a:extLst xmlns:a="http://schemas.openxmlformats.org/drawingml/2006/main">
              <a:ext uri="{FF2B5EF4-FFF2-40B4-BE49-F238E27FC236}">
                <a16:creationId xmlns:a16="http://schemas.microsoft.com/office/drawing/2014/main" id="{3E33DFA5-304F-4CE5-A667-D8E858DE3AE6}"/>
              </a:ext>
            </a:extLst>
          </p:cNvPr>
          <p:cNvSpPr>
            <a:spLocks xmlns:a="http://schemas.openxmlformats.org/drawingml/2006/main" noGrp="1"/>
          </p:cNvSpPr>
          <p:nvPr/>
        </p:nvSpPr>
        <p:spPr>
          <a:xfrm xmlns:a="http://schemas.openxmlformats.org/drawingml/2006/main">
            <a:off x="8077200" y="3962400"/>
            <a:ext cx="3190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496370"/>
                </a:solidFill>
                <a:latin typeface="Arial"/>
                <a:ea typeface="Arial"/>
                <a:cs typeface="Arial"/>
              </a:defRPr>
            </a:pPr>
            <a:r>
              <a:rPr sz="2100" b="0">
                <a:solidFill>
                  <a:srgbClr val="496370"/>
                </a:solidFill>
                <a:latin typeface="Arial"/>
                <a:ea typeface="Arial"/>
                <a:cs typeface="Arial"/>
              </a:rPr>
              <a:t>Show causes, recommendations and approval outcomes.</a:t>
            </a:r>
          </a:p>
        </p:txBody>
      </p:sp>
    </p:spTree>
    <p:extLst>
      <p:ext uri="{BB962C8B-B14F-4D97-AF65-F5344CB8AC3E}">
        <p14:creationId xmlns:p14="http://schemas.microsoft.com/office/powerpoint/2010/main" val="1591067296"/>
      </p:ext>
    </p:extLst>
  </p:cSld>
</p:sld>
</file>

<file path=ppt/slides/slide4.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0975B5-C2F4-4E49-A6B6-A258A9D96852}"/>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E6D3"/>
                </a:solidFill>
                <a:latin typeface="Arial"/>
                <a:ea typeface="Arial"/>
                <a:cs typeface="Arial"/>
              </a:defRPr>
            </a:pPr>
            <a:r>
              <a:rPr sz="1275" b="1">
                <a:solidFill>
                  <a:srgbClr val="64E6D3"/>
                </a:solidFill>
                <a:latin typeface="Arial"/>
                <a:ea typeface="Arial"/>
                <a:cs typeface="Arial"/>
              </a:rPr>
              <a:t>PRODUCT EXPERIENCE</a:t>
            </a:r>
          </a:p>
        </p:txBody>
      </p:sp>
      <p:sp>
        <p:nvSpPr>
          <p:cNvPr id="2" name="">
            <a:extLst xmlns:a="http://schemas.openxmlformats.org/drawingml/2006/main">
              <a:ext uri="{FF2B5EF4-FFF2-40B4-BE49-F238E27FC236}">
                <a16:creationId xmlns:a16="http://schemas.microsoft.com/office/drawing/2014/main" id="{1488EBB7-35C9-4DE7-91F5-C2FF503EC9E1}"/>
              </a:ext>
            </a:extLst>
          </p:cNvPr>
          <p:cNvSpPr>
            <a:spLocks xmlns:a="http://schemas.openxmlformats.org/drawingml/2006/main" noGrp="1"/>
          </p:cNvSpPr>
          <p:nvPr/>
        </p:nvSpPr>
        <p:spPr>
          <a:xfrm xmlns:a="http://schemas.openxmlformats.org/drawingml/2006/main">
            <a:off x="609600" y="781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1F6F7"/>
                </a:solidFill>
                <a:latin typeface="Arial"/>
                <a:ea typeface="Arial"/>
                <a:cs typeface="Arial"/>
              </a:defRPr>
            </a:pPr>
            <a:r>
              <a:rPr sz="3375" b="1">
                <a:solidFill>
                  <a:srgbClr val="F1F6F7"/>
                </a:solidFill>
                <a:latin typeface="Arial"/>
                <a:ea typeface="Arial"/>
                <a:cs typeface="Arial"/>
              </a:rPr>
              <a:t>The command center is the coordination point</a:t>
            </a:r>
          </a:p>
        </p:txBody>
      </p:sp>
      <p:sp>
        <p:nvSpPr>
          <p:cNvPr id="3" name="">
            <a:extLst xmlns:a="http://schemas.openxmlformats.org/drawingml/2006/main">
              <a:ext uri="{FF2B5EF4-FFF2-40B4-BE49-F238E27FC236}">
                <a16:creationId xmlns:a16="http://schemas.microsoft.com/office/drawing/2014/main" id="{556B0292-7662-4206-A5C2-D238198C3390}"/>
              </a:ext>
            </a:extLst>
          </p:cNvPr>
          <p:cNvSpPr>
            <a:spLocks xmlns:a="http://schemas.openxmlformats.org/drawingml/2006/main" noGrp="1"/>
          </p:cNvSpPr>
          <p:nvPr/>
        </p:nvSpPr>
        <p:spPr>
          <a:xfrm xmlns:a="http://schemas.openxmlformats.org/drawingml/2006/main">
            <a:off x="609600" y="63722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ADC2CC"/>
                </a:solidFill>
                <a:latin typeface="Arial"/>
                <a:ea typeface="Arial"/>
                <a:cs typeface="Arial"/>
              </a:defRPr>
            </a:pPr>
            <a:r>
              <a:rPr sz="1200" b="1">
                <a:solidFill>
                  <a:srgbClr val="ADC2CC"/>
                </a:solidFill>
                <a:latin typeface="Arial"/>
                <a:ea typeface="Arial"/>
                <a:cs typeface="Arial"/>
              </a:rPr>
              <a:t>AEGISGRID</a:t>
            </a:r>
          </a:p>
        </p:txBody>
      </p:sp>
      <p:sp>
        <p:nvSpPr>
          <p:cNvPr id="4" name="">
            <a:extLst xmlns:a="http://schemas.openxmlformats.org/drawingml/2006/main">
              <a:ext uri="{FF2B5EF4-FFF2-40B4-BE49-F238E27FC236}">
                <a16:creationId xmlns:a16="http://schemas.microsoft.com/office/drawing/2014/main" id="{5BF886B9-E4E3-490B-9B58-D796C3D6E795}"/>
              </a:ext>
            </a:extLst>
          </p:cNvPr>
          <p:cNvSpPr>
            <a:spLocks xmlns:a="http://schemas.openxmlformats.org/drawingml/2006/main" noGrp="1"/>
          </p:cNvSpPr>
          <p:nvPr/>
        </p:nvSpPr>
        <p:spPr>
          <a:xfrm xmlns:a="http://schemas.openxmlformats.org/drawingml/2006/main">
            <a:off x="11049000" y="63722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DC2CC"/>
                </a:solidFill>
                <a:latin typeface="Arial"/>
                <a:ea typeface="Arial"/>
                <a:cs typeface="Arial"/>
              </a:defRPr>
            </a:pPr>
            <a:r>
              <a:rPr sz="1200" b="0">
                <a:solidFill>
                  <a:srgbClr val="ADC2CC"/>
                </a:solidFill>
                <a:latin typeface="Arial"/>
                <a:ea typeface="Arial"/>
                <a:cs typeface="Arial"/>
              </a:rPr>
              <a:t>04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e08a8bc60cd4bed"/>
          <a:stretch xmlns:a="http://schemas.openxmlformats.org/drawingml/2006/main"/>
        </p:blipFill>
        <p:spPr>
          <a:xfrm xmlns:a="http://schemas.openxmlformats.org/drawingml/2006/main">
            <a:off x="1066800" y="1838325"/>
            <a:ext cx="6400800" cy="4267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DE86A89-E2B8-4D5E-B584-16D62844BB73}"/>
              </a:ext>
            </a:extLst>
          </p:cNvPr>
          <p:cNvSpPr>
            <a:spLocks xmlns:a="http://schemas.openxmlformats.org/drawingml/2006/main" noGrp="1"/>
          </p:cNvSpPr>
          <p:nvPr/>
        </p:nvSpPr>
        <p:spPr>
          <a:xfrm xmlns:a="http://schemas.openxmlformats.org/drawingml/2006/main">
            <a:off x="8296275" y="2076450"/>
            <a:ext cx="328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64E6D3"/>
                </a:solidFill>
                <a:latin typeface="Arial"/>
                <a:ea typeface="Arial"/>
                <a:cs typeface="Arial"/>
              </a:defRPr>
            </a:pPr>
            <a:r>
              <a:rPr sz="2550" b="1">
                <a:solidFill>
                  <a:srgbClr val="64E6D3"/>
                </a:solidFill>
                <a:latin typeface="Arial"/>
                <a:ea typeface="Arial"/>
                <a:cs typeface="Arial"/>
              </a:rPr>
              <a:t>Shared city context</a:t>
            </a:r>
          </a:p>
        </p:txBody>
      </p:sp>
      <p:sp>
        <p:nvSpPr>
          <p:cNvPr id="7" name="">
            <a:extLst xmlns:a="http://schemas.openxmlformats.org/drawingml/2006/main">
              <a:ext uri="{FF2B5EF4-FFF2-40B4-BE49-F238E27FC236}">
                <a16:creationId xmlns:a16="http://schemas.microsoft.com/office/drawing/2014/main" id="{DDC0C802-1A61-4DE4-86D7-E215FF3836E2}"/>
              </a:ext>
            </a:extLst>
          </p:cNvPr>
          <p:cNvSpPr>
            <a:spLocks xmlns:a="http://schemas.openxmlformats.org/drawingml/2006/main" noGrp="1"/>
          </p:cNvSpPr>
          <p:nvPr/>
        </p:nvSpPr>
        <p:spPr>
          <a:xfrm xmlns:a="http://schemas.openxmlformats.org/drawingml/2006/main">
            <a:off x="8296275" y="3124200"/>
            <a:ext cx="3286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DC2CC"/>
                </a:solidFill>
                <a:latin typeface="Arial"/>
                <a:ea typeface="Arial"/>
                <a:cs typeface="Arial"/>
              </a:defRPr>
            </a:pPr>
            <a:r>
              <a:rPr sz="2100" b="0">
                <a:solidFill>
                  <a:srgbClr val="ADC2CC"/>
                </a:solidFill>
                <a:latin typeface="Arial"/>
                <a:ea typeface="Arial"/>
                <a:cs typeface="Arial"/>
              </a:rPr>
              <a:t>Department portals retain their own operational tasks.</a:t>
            </a:r>
          </a:p>
        </p:txBody>
      </p:sp>
      <p:sp>
        <p:nvSpPr>
          <p:cNvPr id="8" name="">
            <a:extLst xmlns:a="http://schemas.openxmlformats.org/drawingml/2006/main">
              <a:ext uri="{FF2B5EF4-FFF2-40B4-BE49-F238E27FC236}">
                <a16:creationId xmlns:a16="http://schemas.microsoft.com/office/drawing/2014/main" id="{6E9AD93B-EF5B-488C-B033-6C0AF9E5B636}"/>
              </a:ext>
            </a:extLst>
          </p:cNvPr>
          <p:cNvSpPr>
            <a:spLocks xmlns:a="http://schemas.openxmlformats.org/drawingml/2006/main" noGrp="1"/>
          </p:cNvSpPr>
          <p:nvPr/>
        </p:nvSpPr>
        <p:spPr>
          <a:xfrm xmlns:a="http://schemas.openxmlformats.org/drawingml/2006/main">
            <a:off x="8296275" y="5048250"/>
            <a:ext cx="328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4C16B"/>
                </a:solidFill>
                <a:latin typeface="Arial"/>
                <a:ea typeface="Arial"/>
                <a:cs typeface="Arial"/>
              </a:defRPr>
            </a:pPr>
            <a:r>
              <a:rPr sz="1725" b="0">
                <a:solidFill>
                  <a:srgbClr val="F4C16B"/>
                </a:solidFill>
                <a:latin typeface="Arial"/>
                <a:ea typeface="Arial"/>
                <a:cs typeface="Arial"/>
              </a:rPr>
              <a:t>Visual reference only</a:t>
            </a:r>
          </a:p>
          <a:p xmlns:a="http://schemas.openxmlformats.org/drawingml/2006/main">
            <a:pPr>
              <a:defRPr sz="1725" b="0">
                <a:solidFill>
                  <a:srgbClr val="F4C16B"/>
                </a:solidFill>
                <a:latin typeface="Arial"/>
                <a:ea typeface="Arial"/>
                <a:cs typeface="Arial"/>
              </a:defRPr>
            </a:pPr>
            <a:r>
              <a:rPr sz="1725" b="0">
                <a:solidFill>
                  <a:srgbClr val="F4C16B"/>
                </a:solidFill>
                <a:latin typeface="Arial"/>
                <a:ea typeface="Arial"/>
                <a:cs typeface="Arial"/>
              </a:rPr>
              <a:t>Illustrative values in image</a:t>
            </a:r>
          </a:p>
        </p:txBody>
      </p:sp>
    </p:spTree>
    <p:extLst>
      <p:ext uri="{BB962C8B-B14F-4D97-AF65-F5344CB8AC3E}">
        <p14:creationId xmlns:p14="http://schemas.microsoft.com/office/powerpoint/2010/main" val="1852845068"/>
      </p:ext>
    </p:extLst>
  </p:cSld>
</p:sld>
</file>

<file path=ppt/slides/slide5.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DF6D8DA-0C43-4F09-8051-296F09C71D8E}"/>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E6D3"/>
                </a:solidFill>
                <a:latin typeface="Arial"/>
                <a:ea typeface="Arial"/>
                <a:cs typeface="Arial"/>
              </a:defRPr>
            </a:pPr>
            <a:r>
              <a:rPr sz="1275" b="1">
                <a:solidFill>
                  <a:srgbClr val="64E6D3"/>
                </a:solidFill>
                <a:latin typeface="Arial"/>
                <a:ea typeface="Arial"/>
                <a:cs typeface="Arial"/>
              </a:rPr>
              <a:t>DEMO WALKTHROUGH</a:t>
            </a:r>
          </a:p>
        </p:txBody>
      </p:sp>
      <p:sp>
        <p:nvSpPr>
          <p:cNvPr id="2" name="">
            <a:extLst xmlns:a="http://schemas.openxmlformats.org/drawingml/2006/main">
              <a:ext uri="{FF2B5EF4-FFF2-40B4-BE49-F238E27FC236}">
                <a16:creationId xmlns:a16="http://schemas.microsoft.com/office/drawing/2014/main" id="{7F5CF24B-B256-4517-BC5E-5CE69650854E}"/>
              </a:ext>
            </a:extLst>
          </p:cNvPr>
          <p:cNvSpPr>
            <a:spLocks xmlns:a="http://schemas.openxmlformats.org/drawingml/2006/main" noGrp="1"/>
          </p:cNvSpPr>
          <p:nvPr/>
        </p:nvSpPr>
        <p:spPr>
          <a:xfrm xmlns:a="http://schemas.openxmlformats.org/drawingml/2006/main">
            <a:off x="609600" y="781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1F6F7"/>
                </a:solidFill>
                <a:latin typeface="Arial"/>
                <a:ea typeface="Arial"/>
                <a:cs typeface="Arial"/>
              </a:defRPr>
            </a:pPr>
            <a:r>
              <a:rPr sz="3375" b="1">
                <a:solidFill>
                  <a:srgbClr val="F1F6F7"/>
                </a:solidFill>
                <a:latin typeface="Arial"/>
                <a:ea typeface="Arial"/>
                <a:cs typeface="Arial"/>
              </a:rPr>
              <a:t>A rainfall scenario produces linked effects</a:t>
            </a:r>
          </a:p>
        </p:txBody>
      </p:sp>
      <p:sp>
        <p:nvSpPr>
          <p:cNvPr id="3" name="">
            <a:extLst xmlns:a="http://schemas.openxmlformats.org/drawingml/2006/main">
              <a:ext uri="{FF2B5EF4-FFF2-40B4-BE49-F238E27FC236}">
                <a16:creationId xmlns:a16="http://schemas.microsoft.com/office/drawing/2014/main" id="{A80EBBFD-959D-4A41-B16E-7DC2258CAD5D}"/>
              </a:ext>
            </a:extLst>
          </p:cNvPr>
          <p:cNvSpPr>
            <a:spLocks xmlns:a="http://schemas.openxmlformats.org/drawingml/2006/main" noGrp="1"/>
          </p:cNvSpPr>
          <p:nvPr/>
        </p:nvSpPr>
        <p:spPr>
          <a:xfrm xmlns:a="http://schemas.openxmlformats.org/drawingml/2006/main">
            <a:off x="609600" y="63722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ADC2CC"/>
                </a:solidFill>
                <a:latin typeface="Arial"/>
                <a:ea typeface="Arial"/>
                <a:cs typeface="Arial"/>
              </a:defRPr>
            </a:pPr>
            <a:r>
              <a:rPr sz="1200" b="1">
                <a:solidFill>
                  <a:srgbClr val="ADC2CC"/>
                </a:solidFill>
                <a:latin typeface="Arial"/>
                <a:ea typeface="Arial"/>
                <a:cs typeface="Arial"/>
              </a:rPr>
              <a:t>AEGISGRID</a:t>
            </a:r>
          </a:p>
        </p:txBody>
      </p:sp>
      <p:sp>
        <p:nvSpPr>
          <p:cNvPr id="4" name="">
            <a:extLst xmlns:a="http://schemas.openxmlformats.org/drawingml/2006/main">
              <a:ext uri="{FF2B5EF4-FFF2-40B4-BE49-F238E27FC236}">
                <a16:creationId xmlns:a16="http://schemas.microsoft.com/office/drawing/2014/main" id="{990C9FF6-20A9-48F2-BB5C-C0F31F2244D9}"/>
              </a:ext>
            </a:extLst>
          </p:cNvPr>
          <p:cNvSpPr>
            <a:spLocks xmlns:a="http://schemas.openxmlformats.org/drawingml/2006/main" noGrp="1"/>
          </p:cNvSpPr>
          <p:nvPr/>
        </p:nvSpPr>
        <p:spPr>
          <a:xfrm xmlns:a="http://schemas.openxmlformats.org/drawingml/2006/main">
            <a:off x="11049000" y="63722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DC2CC"/>
                </a:solidFill>
                <a:latin typeface="Arial"/>
                <a:ea typeface="Arial"/>
                <a:cs typeface="Arial"/>
              </a:defRPr>
            </a:pPr>
            <a:r>
              <a:rPr sz="1200" b="0">
                <a:solidFill>
                  <a:srgbClr val="ADC2CC"/>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24C50FE-C717-49FD-9242-6C555E9E1CE4}"/>
              </a:ext>
            </a:extLst>
          </p:cNvPr>
          <p:cNvSpPr>
            <a:spLocks xmlns:a="http://schemas.openxmlformats.org/drawingml/2006/main" noGrp="1"/>
          </p:cNvSpPr>
          <p:nvPr/>
        </p:nvSpPr>
        <p:spPr>
          <a:xfrm xmlns:a="http://schemas.openxmlformats.org/drawingml/2006/main">
            <a:off x="638175" y="1971675"/>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64E6D3"/>
                </a:solidFill>
                <a:latin typeface="Arial"/>
                <a:ea typeface="Arial"/>
                <a:cs typeface="Arial"/>
              </a:defRPr>
            </a:pPr>
            <a:r>
              <a:rPr sz="3450" b="1">
                <a:solidFill>
                  <a:srgbClr val="64E6D3"/>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E5FA2335-DBA9-4F2A-BC32-170F87E97BB8}"/>
              </a:ext>
            </a:extLst>
          </p:cNvPr>
          <p:cNvSpPr>
            <a:spLocks xmlns:a="http://schemas.openxmlformats.org/drawingml/2006/main" noGrp="1"/>
          </p:cNvSpPr>
          <p:nvPr/>
        </p:nvSpPr>
        <p:spPr>
          <a:xfrm xmlns:a="http://schemas.openxmlformats.org/drawingml/2006/main">
            <a:off x="1524000" y="1981200"/>
            <a:ext cx="335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1F6F7"/>
                </a:solidFill>
                <a:latin typeface="Arial"/>
                <a:ea typeface="Arial"/>
                <a:cs typeface="Arial"/>
              </a:defRPr>
            </a:pPr>
            <a:r>
              <a:rPr sz="2250" b="1">
                <a:solidFill>
                  <a:srgbClr val="F1F6F7"/>
                </a:solidFill>
                <a:latin typeface="Arial"/>
                <a:ea typeface="Arial"/>
                <a:cs typeface="Arial"/>
              </a:rPr>
              <a:t>Rainfall input</a:t>
            </a:r>
          </a:p>
        </p:txBody>
      </p:sp>
      <p:sp>
        <p:nvSpPr>
          <p:cNvPr id="7" name="">
            <a:extLst xmlns:a="http://schemas.openxmlformats.org/drawingml/2006/main">
              <a:ext uri="{FF2B5EF4-FFF2-40B4-BE49-F238E27FC236}">
                <a16:creationId xmlns:a16="http://schemas.microsoft.com/office/drawing/2014/main" id="{DE3BEF40-5D26-4840-87CE-4BCE019E396C}"/>
              </a:ext>
            </a:extLst>
          </p:cNvPr>
          <p:cNvSpPr>
            <a:spLocks xmlns:a="http://schemas.openxmlformats.org/drawingml/2006/main" noGrp="1"/>
          </p:cNvSpPr>
          <p:nvPr/>
        </p:nvSpPr>
        <p:spPr>
          <a:xfrm xmlns:a="http://schemas.openxmlformats.org/drawingml/2006/main">
            <a:off x="5143500" y="1981200"/>
            <a:ext cx="623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DC2CC"/>
                </a:solidFill>
                <a:latin typeface="Arial"/>
                <a:ea typeface="Arial"/>
                <a:cs typeface="Arial"/>
              </a:defRPr>
            </a:pPr>
            <a:r>
              <a:rPr sz="2025" b="0">
                <a:solidFill>
                  <a:srgbClr val="ADC2CC"/>
                </a:solidFill>
                <a:latin typeface="Arial"/>
                <a:ea typeface="Arial"/>
                <a:cs typeface="Arial"/>
              </a:rPr>
              <a:t>Operator selects a polygon and intensity.</a:t>
            </a:r>
          </a:p>
        </p:txBody>
      </p:sp>
      <p:sp>
        <p:nvSpPr>
          <p:cNvPr id="8" name="">
            <a:extLst xmlns:a="http://schemas.openxmlformats.org/drawingml/2006/main">
              <a:ext uri="{FF2B5EF4-FFF2-40B4-BE49-F238E27FC236}">
                <a16:creationId xmlns:a16="http://schemas.microsoft.com/office/drawing/2014/main" id="{AEA06071-93F4-4D13-BC45-DDD200C89CAE}"/>
              </a:ext>
            </a:extLst>
          </p:cNvPr>
          <p:cNvSpPr>
            <a:spLocks xmlns:a="http://schemas.openxmlformats.org/drawingml/2006/main" noGrp="1"/>
          </p:cNvSpPr>
          <p:nvPr/>
        </p:nvSpPr>
        <p:spPr>
          <a:xfrm xmlns:a="http://schemas.openxmlformats.org/drawingml/2006/main">
            <a:off x="638175" y="2971800"/>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64E6D3"/>
                </a:solidFill>
                <a:latin typeface="Arial"/>
                <a:ea typeface="Arial"/>
                <a:cs typeface="Arial"/>
              </a:defRPr>
            </a:pPr>
            <a:r>
              <a:rPr sz="3450" b="1">
                <a:solidFill>
                  <a:srgbClr val="64E6D3"/>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9FA68FFF-44FA-445C-93B2-119732C8362D}"/>
              </a:ext>
            </a:extLst>
          </p:cNvPr>
          <p:cNvSpPr>
            <a:spLocks xmlns:a="http://schemas.openxmlformats.org/drawingml/2006/main" noGrp="1"/>
          </p:cNvSpPr>
          <p:nvPr/>
        </p:nvSpPr>
        <p:spPr>
          <a:xfrm xmlns:a="http://schemas.openxmlformats.org/drawingml/2006/main">
            <a:off x="1524000" y="2981325"/>
            <a:ext cx="335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1F6F7"/>
                </a:solidFill>
                <a:latin typeface="Arial"/>
                <a:ea typeface="Arial"/>
                <a:cs typeface="Arial"/>
              </a:defRPr>
            </a:pPr>
            <a:r>
              <a:rPr sz="2250" b="1">
                <a:solidFill>
                  <a:srgbClr val="F1F6F7"/>
                </a:solidFill>
                <a:latin typeface="Arial"/>
                <a:ea typeface="Arial"/>
                <a:cs typeface="Arial"/>
              </a:rPr>
              <a:t>Accumulation</a:t>
            </a:r>
          </a:p>
        </p:txBody>
      </p:sp>
      <p:sp>
        <p:nvSpPr>
          <p:cNvPr id="10" name="">
            <a:extLst xmlns:a="http://schemas.openxmlformats.org/drawingml/2006/main">
              <a:ext uri="{FF2B5EF4-FFF2-40B4-BE49-F238E27FC236}">
                <a16:creationId xmlns:a16="http://schemas.microsoft.com/office/drawing/2014/main" id="{3EFBF297-AF79-4C3D-A4D0-80ACDFBB69E9}"/>
              </a:ext>
            </a:extLst>
          </p:cNvPr>
          <p:cNvSpPr>
            <a:spLocks xmlns:a="http://schemas.openxmlformats.org/drawingml/2006/main" noGrp="1"/>
          </p:cNvSpPr>
          <p:nvPr/>
        </p:nvSpPr>
        <p:spPr>
          <a:xfrm xmlns:a="http://schemas.openxmlformats.org/drawingml/2006/main">
            <a:off x="5143500" y="2981325"/>
            <a:ext cx="623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DC2CC"/>
                </a:solidFill>
                <a:latin typeface="Arial"/>
                <a:ea typeface="Arial"/>
                <a:cs typeface="Arial"/>
              </a:defRPr>
            </a:pPr>
            <a:r>
              <a:rPr sz="2025" b="0">
                <a:solidFill>
                  <a:srgbClr val="ADC2CC"/>
                </a:solidFill>
                <a:latin typeface="Arial"/>
                <a:ea typeface="Arial"/>
                <a:cs typeface="Arial"/>
              </a:rPr>
              <a:t>Water rises according to rainfall and drainage.</a:t>
            </a:r>
          </a:p>
        </p:txBody>
      </p:sp>
      <p:sp>
        <p:nvSpPr>
          <p:cNvPr id="11" name="">
            <a:extLst xmlns:a="http://schemas.openxmlformats.org/drawingml/2006/main">
              <a:ext uri="{FF2B5EF4-FFF2-40B4-BE49-F238E27FC236}">
                <a16:creationId xmlns:a16="http://schemas.microsoft.com/office/drawing/2014/main" id="{A8096D9F-292C-4BC0-9F4F-E7E095E5A21C}"/>
              </a:ext>
            </a:extLst>
          </p:cNvPr>
          <p:cNvSpPr>
            <a:spLocks xmlns:a="http://schemas.openxmlformats.org/drawingml/2006/main" noGrp="1"/>
          </p:cNvSpPr>
          <p:nvPr/>
        </p:nvSpPr>
        <p:spPr>
          <a:xfrm xmlns:a="http://schemas.openxmlformats.org/drawingml/2006/main">
            <a:off x="638175" y="3971925"/>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64E6D3"/>
                </a:solidFill>
                <a:latin typeface="Arial"/>
                <a:ea typeface="Arial"/>
                <a:cs typeface="Arial"/>
              </a:defRPr>
            </a:pPr>
            <a:r>
              <a:rPr sz="3450" b="1">
                <a:solidFill>
                  <a:srgbClr val="64E6D3"/>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5B03F622-AAAC-4293-A128-770CAB0A9592}"/>
              </a:ext>
            </a:extLst>
          </p:cNvPr>
          <p:cNvSpPr>
            <a:spLocks xmlns:a="http://schemas.openxmlformats.org/drawingml/2006/main" noGrp="1"/>
          </p:cNvSpPr>
          <p:nvPr/>
        </p:nvSpPr>
        <p:spPr>
          <a:xfrm xmlns:a="http://schemas.openxmlformats.org/drawingml/2006/main">
            <a:off x="1524000" y="3981450"/>
            <a:ext cx="335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1F6F7"/>
                </a:solidFill>
                <a:latin typeface="Arial"/>
                <a:ea typeface="Arial"/>
                <a:cs typeface="Arial"/>
              </a:defRPr>
            </a:pPr>
            <a:r>
              <a:rPr sz="2250" b="1">
                <a:solidFill>
                  <a:srgbClr val="F1F6F7"/>
                </a:solidFill>
                <a:latin typeface="Arial"/>
                <a:ea typeface="Arial"/>
                <a:cs typeface="Arial"/>
              </a:rPr>
              <a:t>Cross-domain effects</a:t>
            </a:r>
          </a:p>
        </p:txBody>
      </p:sp>
      <p:sp>
        <p:nvSpPr>
          <p:cNvPr id="13" name="">
            <a:extLst xmlns:a="http://schemas.openxmlformats.org/drawingml/2006/main">
              <a:ext uri="{FF2B5EF4-FFF2-40B4-BE49-F238E27FC236}">
                <a16:creationId xmlns:a16="http://schemas.microsoft.com/office/drawing/2014/main" id="{FD82D3FC-E5D0-4151-BF16-74DF7D7186DD}"/>
              </a:ext>
            </a:extLst>
          </p:cNvPr>
          <p:cNvSpPr>
            <a:spLocks xmlns:a="http://schemas.openxmlformats.org/drawingml/2006/main" noGrp="1"/>
          </p:cNvSpPr>
          <p:nvPr/>
        </p:nvSpPr>
        <p:spPr>
          <a:xfrm xmlns:a="http://schemas.openxmlformats.org/drawingml/2006/main">
            <a:off x="5143500" y="3981450"/>
            <a:ext cx="623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DC2CC"/>
                </a:solidFill>
                <a:latin typeface="Arial"/>
                <a:ea typeface="Arial"/>
                <a:cs typeface="Arial"/>
              </a:defRPr>
            </a:pPr>
            <a:r>
              <a:rPr sz="2025" b="0">
                <a:solidFill>
                  <a:srgbClr val="ADC2CC"/>
                </a:solidFill>
                <a:latin typeface="Arial"/>
                <a:ea typeface="Arial"/>
                <a:cs typeface="Arial"/>
              </a:rPr>
              <a:t>Road costs, metro demand and power load respond.</a:t>
            </a:r>
          </a:p>
        </p:txBody>
      </p:sp>
      <p:sp>
        <p:nvSpPr>
          <p:cNvPr id="14" name="">
            <a:extLst xmlns:a="http://schemas.openxmlformats.org/drawingml/2006/main">
              <a:ext uri="{FF2B5EF4-FFF2-40B4-BE49-F238E27FC236}">
                <a16:creationId xmlns:a16="http://schemas.microsoft.com/office/drawing/2014/main" id="{C558C1AF-BFD6-42CE-9333-A144EE740AB2}"/>
              </a:ext>
            </a:extLst>
          </p:cNvPr>
          <p:cNvSpPr>
            <a:spLocks xmlns:a="http://schemas.openxmlformats.org/drawingml/2006/main" noGrp="1"/>
          </p:cNvSpPr>
          <p:nvPr/>
        </p:nvSpPr>
        <p:spPr>
          <a:xfrm xmlns:a="http://schemas.openxmlformats.org/drawingml/2006/main">
            <a:off x="638175" y="4972050"/>
            <a:ext cx="647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64E6D3"/>
                </a:solidFill>
                <a:latin typeface="Arial"/>
                <a:ea typeface="Arial"/>
                <a:cs typeface="Arial"/>
              </a:defRPr>
            </a:pPr>
            <a:r>
              <a:rPr sz="3450" b="1">
                <a:solidFill>
                  <a:srgbClr val="64E6D3"/>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2ECED6DB-4CFB-41E2-A58D-FBEF5CD41371}"/>
              </a:ext>
            </a:extLst>
          </p:cNvPr>
          <p:cNvSpPr>
            <a:spLocks xmlns:a="http://schemas.openxmlformats.org/drawingml/2006/main" noGrp="1"/>
          </p:cNvSpPr>
          <p:nvPr/>
        </p:nvSpPr>
        <p:spPr>
          <a:xfrm xmlns:a="http://schemas.openxmlformats.org/drawingml/2006/main">
            <a:off x="1524000" y="4981575"/>
            <a:ext cx="335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1F6F7"/>
                </a:solidFill>
                <a:latin typeface="Arial"/>
                <a:ea typeface="Arial"/>
                <a:cs typeface="Arial"/>
              </a:defRPr>
            </a:pPr>
            <a:r>
              <a:rPr sz="2250" b="1">
                <a:solidFill>
                  <a:srgbClr val="F1F6F7"/>
                </a:solidFill>
                <a:latin typeface="Arial"/>
                <a:ea typeface="Arial"/>
                <a:cs typeface="Arial"/>
              </a:rPr>
              <a:t>Approved action</a:t>
            </a:r>
          </a:p>
        </p:txBody>
      </p:sp>
      <p:sp>
        <p:nvSpPr>
          <p:cNvPr id="16" name="">
            <a:extLst xmlns:a="http://schemas.openxmlformats.org/drawingml/2006/main">
              <a:ext uri="{FF2B5EF4-FFF2-40B4-BE49-F238E27FC236}">
                <a16:creationId xmlns:a16="http://schemas.microsoft.com/office/drawing/2014/main" id="{33BD98E6-C0F9-47D3-9BEA-677E4DA74E55}"/>
              </a:ext>
            </a:extLst>
          </p:cNvPr>
          <p:cNvSpPr>
            <a:spLocks xmlns:a="http://schemas.openxmlformats.org/drawingml/2006/main" noGrp="1"/>
          </p:cNvSpPr>
          <p:nvPr/>
        </p:nvSpPr>
        <p:spPr>
          <a:xfrm xmlns:a="http://schemas.openxmlformats.org/drawingml/2006/main">
            <a:off x="5143500" y="4981575"/>
            <a:ext cx="623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DC2CC"/>
                </a:solidFill>
                <a:latin typeface="Arial"/>
                <a:ea typeface="Arial"/>
                <a:cs typeface="Arial"/>
              </a:defRPr>
            </a:pPr>
            <a:r>
              <a:rPr sz="2025" b="0">
                <a:solidFill>
                  <a:srgbClr val="ADC2CC"/>
                </a:solidFill>
                <a:latin typeface="Arial"/>
                <a:ea typeface="Arial"/>
                <a:cs typeface="Arial"/>
              </a:rPr>
              <a:t>A drainage action changes subsequent water levels.</a:t>
            </a:r>
          </a:p>
        </p:txBody>
      </p:sp>
    </p:spTree>
    <p:extLst>
      <p:ext uri="{BB962C8B-B14F-4D97-AF65-F5344CB8AC3E}">
        <p14:creationId xmlns:p14="http://schemas.microsoft.com/office/powerpoint/2010/main" val="1591971291"/>
      </p:ext>
    </p:extLst>
  </p:cSld>
</p:sld>
</file>

<file path=ppt/slides/slide6.xml><?xml version="1.0" encoding="utf-8"?>
<p:sld xmlns:p="http://schemas.openxmlformats.org/presentationml/2006/main">
  <p:cSld>
    <p:bg>
      <p:bgPr>
        <a:solidFill xmlns:a="http://schemas.openxmlformats.org/drawingml/2006/main">
          <a:srgbClr val="EDF3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4F394F9-3748-4682-9A09-E01DD6E932A9}"/>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6F66"/>
                </a:solidFill>
                <a:latin typeface="Arial"/>
                <a:ea typeface="Arial"/>
                <a:cs typeface="Arial"/>
              </a:defRPr>
            </a:pPr>
            <a:r>
              <a:rPr sz="1275" b="1">
                <a:solidFill>
                  <a:srgbClr val="166F66"/>
                </a:solidFill>
                <a:latin typeface="Arial"/>
                <a:ea typeface="Arial"/>
                <a:cs typeface="Arial"/>
              </a:rPr>
              <a:t>DATA FOUNDATION</a:t>
            </a:r>
          </a:p>
        </p:txBody>
      </p:sp>
      <p:sp>
        <p:nvSpPr>
          <p:cNvPr id="2" name="">
            <a:extLst xmlns:a="http://schemas.openxmlformats.org/drawingml/2006/main">
              <a:ext uri="{FF2B5EF4-FFF2-40B4-BE49-F238E27FC236}">
                <a16:creationId xmlns:a16="http://schemas.microsoft.com/office/drawing/2014/main" id="{955869DA-1482-4F8E-8463-11068117A8C7}"/>
              </a:ext>
            </a:extLst>
          </p:cNvPr>
          <p:cNvSpPr>
            <a:spLocks xmlns:a="http://schemas.openxmlformats.org/drawingml/2006/main" noGrp="1"/>
          </p:cNvSpPr>
          <p:nvPr/>
        </p:nvSpPr>
        <p:spPr>
          <a:xfrm xmlns:a="http://schemas.openxmlformats.org/drawingml/2006/main">
            <a:off x="609600" y="781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02B36"/>
                </a:solidFill>
                <a:latin typeface="Arial"/>
                <a:ea typeface="Arial"/>
                <a:cs typeface="Arial"/>
              </a:defRPr>
            </a:pPr>
            <a:r>
              <a:rPr sz="3375" b="1">
                <a:solidFill>
                  <a:srgbClr val="102B36"/>
                </a:solidFill>
                <a:latin typeface="Arial"/>
                <a:ea typeface="Arial"/>
                <a:cs typeface="Arial"/>
              </a:rPr>
              <a:t>Real geography anchors the simulation</a:t>
            </a:r>
          </a:p>
        </p:txBody>
      </p:sp>
      <p:sp>
        <p:nvSpPr>
          <p:cNvPr id="3" name="">
            <a:extLst xmlns:a="http://schemas.openxmlformats.org/drawingml/2006/main">
              <a:ext uri="{FF2B5EF4-FFF2-40B4-BE49-F238E27FC236}">
                <a16:creationId xmlns:a16="http://schemas.microsoft.com/office/drawing/2014/main" id="{83EB20D0-E4D3-408D-949F-C1F469CABF51}"/>
              </a:ext>
            </a:extLst>
          </p:cNvPr>
          <p:cNvSpPr>
            <a:spLocks xmlns:a="http://schemas.openxmlformats.org/drawingml/2006/main" noGrp="1"/>
          </p:cNvSpPr>
          <p:nvPr/>
        </p:nvSpPr>
        <p:spPr>
          <a:xfrm xmlns:a="http://schemas.openxmlformats.org/drawingml/2006/main">
            <a:off x="609600" y="63722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496370"/>
                </a:solidFill>
                <a:latin typeface="Arial"/>
                <a:ea typeface="Arial"/>
                <a:cs typeface="Arial"/>
              </a:defRPr>
            </a:pPr>
            <a:r>
              <a:rPr sz="1200" b="1">
                <a:solidFill>
                  <a:srgbClr val="496370"/>
                </a:solidFill>
                <a:latin typeface="Arial"/>
                <a:ea typeface="Arial"/>
                <a:cs typeface="Arial"/>
              </a:rPr>
              <a:t>AEGISGRID</a:t>
            </a:r>
          </a:p>
        </p:txBody>
      </p:sp>
      <p:sp>
        <p:nvSpPr>
          <p:cNvPr id="4" name="">
            <a:extLst xmlns:a="http://schemas.openxmlformats.org/drawingml/2006/main">
              <a:ext uri="{FF2B5EF4-FFF2-40B4-BE49-F238E27FC236}">
                <a16:creationId xmlns:a16="http://schemas.microsoft.com/office/drawing/2014/main" id="{A1325960-7432-4229-B794-42FE94BD261E}"/>
              </a:ext>
            </a:extLst>
          </p:cNvPr>
          <p:cNvSpPr>
            <a:spLocks xmlns:a="http://schemas.openxmlformats.org/drawingml/2006/main" noGrp="1"/>
          </p:cNvSpPr>
          <p:nvPr/>
        </p:nvSpPr>
        <p:spPr>
          <a:xfrm xmlns:a="http://schemas.openxmlformats.org/drawingml/2006/main">
            <a:off x="11049000" y="63722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96370"/>
                </a:solidFill>
                <a:latin typeface="Arial"/>
                <a:ea typeface="Arial"/>
                <a:cs typeface="Arial"/>
              </a:defRPr>
            </a:pPr>
            <a:r>
              <a:rPr sz="1200" b="0">
                <a:solidFill>
                  <a:srgbClr val="496370"/>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6FCCC40-8C2A-4979-8669-B6274716FC35}"/>
              </a:ext>
            </a:extLst>
          </p:cNvPr>
          <p:cNvSpPr>
            <a:spLocks xmlns:a="http://schemas.openxmlformats.org/drawingml/2006/main" noGrp="1"/>
          </p:cNvSpPr>
          <p:nvPr/>
        </p:nvSpPr>
        <p:spPr>
          <a:xfrm xmlns:a="http://schemas.openxmlformats.org/drawingml/2006/main">
            <a:off x="609600" y="213360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68477"/>
                </a:solidFill>
                <a:latin typeface="Arial"/>
                <a:ea typeface="Arial"/>
                <a:cs typeface="Arial"/>
              </a:defRPr>
            </a:pPr>
            <a:r>
              <a:rPr sz="4800" b="1">
                <a:solidFill>
                  <a:srgbClr val="168477"/>
                </a:solidFill>
                <a:latin typeface="Arial"/>
                <a:ea typeface="Arial"/>
                <a:cs typeface="Arial"/>
              </a:rPr>
              <a:t>374,988</a:t>
            </a:r>
          </a:p>
        </p:txBody>
      </p:sp>
      <p:sp>
        <p:nvSpPr>
          <p:cNvPr id="6" name="">
            <a:extLst xmlns:a="http://schemas.openxmlformats.org/drawingml/2006/main">
              <a:ext uri="{FF2B5EF4-FFF2-40B4-BE49-F238E27FC236}">
                <a16:creationId xmlns:a16="http://schemas.microsoft.com/office/drawing/2014/main" id="{84B36D1A-9020-4E92-97AC-5480BED1D105}"/>
              </a:ext>
            </a:extLst>
          </p:cNvPr>
          <p:cNvSpPr>
            <a:spLocks xmlns:a="http://schemas.openxmlformats.org/drawingml/2006/main" noGrp="1"/>
          </p:cNvSpPr>
          <p:nvPr/>
        </p:nvSpPr>
        <p:spPr>
          <a:xfrm xmlns:a="http://schemas.openxmlformats.org/drawingml/2006/main">
            <a:off x="609600" y="3209925"/>
            <a:ext cx="328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36"/>
                </a:solidFill>
                <a:latin typeface="Arial"/>
                <a:ea typeface="Arial"/>
                <a:cs typeface="Arial"/>
              </a:defRPr>
            </a:pPr>
            <a:r>
              <a:rPr sz="2175" b="1">
                <a:solidFill>
                  <a:srgbClr val="102B36"/>
                </a:solidFill>
                <a:latin typeface="Arial"/>
                <a:ea typeface="Arial"/>
                <a:cs typeface="Arial"/>
              </a:rPr>
              <a:t>Imported road segments</a:t>
            </a:r>
          </a:p>
        </p:txBody>
      </p:sp>
      <p:sp>
        <p:nvSpPr>
          <p:cNvPr id="7" name="">
            <a:extLst xmlns:a="http://schemas.openxmlformats.org/drawingml/2006/main">
              <a:ext uri="{FF2B5EF4-FFF2-40B4-BE49-F238E27FC236}">
                <a16:creationId xmlns:a16="http://schemas.microsoft.com/office/drawing/2014/main" id="{345C10B9-F728-434E-A795-6C609D675E71}"/>
              </a:ext>
            </a:extLst>
          </p:cNvPr>
          <p:cNvSpPr>
            <a:spLocks xmlns:a="http://schemas.openxmlformats.org/drawingml/2006/main" noGrp="1"/>
          </p:cNvSpPr>
          <p:nvPr/>
        </p:nvSpPr>
        <p:spPr>
          <a:xfrm xmlns:a="http://schemas.openxmlformats.org/drawingml/2006/main">
            <a:off x="609600" y="4276725"/>
            <a:ext cx="328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96370"/>
                </a:solidFill>
                <a:latin typeface="Arial"/>
                <a:ea typeface="Arial"/>
                <a:cs typeface="Arial"/>
              </a:defRPr>
            </a:pPr>
            <a:r>
              <a:rPr sz="1950" b="0">
                <a:solidFill>
                  <a:srgbClr val="496370"/>
                </a:solidFill>
                <a:latin typeface="Arial"/>
                <a:ea typeface="Arial"/>
                <a:cs typeface="Arial"/>
              </a:rPr>
              <a:t>OSM reference geometry</a:t>
            </a:r>
          </a:p>
        </p:txBody>
      </p:sp>
      <p:sp>
        <p:nvSpPr>
          <p:cNvPr id="8" name="">
            <a:extLst xmlns:a="http://schemas.openxmlformats.org/drawingml/2006/main">
              <a:ext uri="{FF2B5EF4-FFF2-40B4-BE49-F238E27FC236}">
                <a16:creationId xmlns:a16="http://schemas.microsoft.com/office/drawing/2014/main" id="{5B71E643-D4B3-406C-8993-60BD217D050D}"/>
              </a:ext>
            </a:extLst>
          </p:cNvPr>
          <p:cNvSpPr>
            <a:spLocks xmlns:a="http://schemas.openxmlformats.org/drawingml/2006/main" noGrp="1"/>
          </p:cNvSpPr>
          <p:nvPr/>
        </p:nvSpPr>
        <p:spPr>
          <a:xfrm xmlns:a="http://schemas.openxmlformats.org/drawingml/2006/main">
            <a:off x="4343400" y="213360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68477"/>
                </a:solidFill>
                <a:latin typeface="Arial"/>
                <a:ea typeface="Arial"/>
                <a:cs typeface="Arial"/>
              </a:defRPr>
            </a:pPr>
            <a:r>
              <a:rPr sz="4800" b="1">
                <a:solidFill>
                  <a:srgbClr val="168477"/>
                </a:solidFill>
                <a:latin typeface="Arial"/>
                <a:ea typeface="Arial"/>
                <a:cs typeface="Arial"/>
              </a:rPr>
              <a:t>57</a:t>
            </a:r>
          </a:p>
        </p:txBody>
      </p:sp>
      <p:sp>
        <p:nvSpPr>
          <p:cNvPr id="9" name="">
            <a:extLst xmlns:a="http://schemas.openxmlformats.org/drawingml/2006/main">
              <a:ext uri="{FF2B5EF4-FFF2-40B4-BE49-F238E27FC236}">
                <a16:creationId xmlns:a16="http://schemas.microsoft.com/office/drawing/2014/main" id="{FD56B185-D6A6-40E3-B019-889B27C50D14}"/>
              </a:ext>
            </a:extLst>
          </p:cNvPr>
          <p:cNvSpPr>
            <a:spLocks xmlns:a="http://schemas.openxmlformats.org/drawingml/2006/main" noGrp="1"/>
          </p:cNvSpPr>
          <p:nvPr/>
        </p:nvSpPr>
        <p:spPr>
          <a:xfrm xmlns:a="http://schemas.openxmlformats.org/drawingml/2006/main">
            <a:off x="4343400" y="3209925"/>
            <a:ext cx="328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36"/>
                </a:solidFill>
                <a:latin typeface="Arial"/>
                <a:ea typeface="Arial"/>
                <a:cs typeface="Arial"/>
              </a:defRPr>
            </a:pPr>
            <a:r>
              <a:rPr sz="2175" b="1">
                <a:solidFill>
                  <a:srgbClr val="102B36"/>
                </a:solidFill>
                <a:latin typeface="Arial"/>
                <a:ea typeface="Arial"/>
                <a:cs typeface="Arial"/>
              </a:rPr>
              <a:t>Parent metro stations</a:t>
            </a:r>
          </a:p>
        </p:txBody>
      </p:sp>
      <p:sp>
        <p:nvSpPr>
          <p:cNvPr id="10" name="">
            <a:extLst xmlns:a="http://schemas.openxmlformats.org/drawingml/2006/main">
              <a:ext uri="{FF2B5EF4-FFF2-40B4-BE49-F238E27FC236}">
                <a16:creationId xmlns:a16="http://schemas.microsoft.com/office/drawing/2014/main" id="{D71A1807-ED5F-4BD0-A3CC-06C0E3ABDCF6}"/>
              </a:ext>
            </a:extLst>
          </p:cNvPr>
          <p:cNvSpPr>
            <a:spLocks xmlns:a="http://schemas.openxmlformats.org/drawingml/2006/main" noGrp="1"/>
          </p:cNvSpPr>
          <p:nvPr/>
        </p:nvSpPr>
        <p:spPr>
          <a:xfrm xmlns:a="http://schemas.openxmlformats.org/drawingml/2006/main">
            <a:off x="4343400" y="4276725"/>
            <a:ext cx="328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96370"/>
                </a:solidFill>
                <a:latin typeface="Arial"/>
                <a:ea typeface="Arial"/>
                <a:cs typeface="Arial"/>
              </a:defRPr>
            </a:pPr>
            <a:r>
              <a:rPr sz="1950" b="0">
                <a:solidFill>
                  <a:srgbClr val="496370"/>
                </a:solidFill>
                <a:latin typeface="Arial"/>
                <a:ea typeface="Arial"/>
                <a:cs typeface="Arial"/>
              </a:rPr>
              <a:t>GTFS locations and schedules</a:t>
            </a:r>
          </a:p>
        </p:txBody>
      </p:sp>
      <p:sp>
        <p:nvSpPr>
          <p:cNvPr id="11" name="">
            <a:extLst xmlns:a="http://schemas.openxmlformats.org/drawingml/2006/main">
              <a:ext uri="{FF2B5EF4-FFF2-40B4-BE49-F238E27FC236}">
                <a16:creationId xmlns:a16="http://schemas.microsoft.com/office/drawing/2014/main" id="{5385A574-AB2B-40EA-B5EB-7705512CD5DF}"/>
              </a:ext>
            </a:extLst>
          </p:cNvPr>
          <p:cNvSpPr>
            <a:spLocks xmlns:a="http://schemas.openxmlformats.org/drawingml/2006/main" noGrp="1"/>
          </p:cNvSpPr>
          <p:nvPr/>
        </p:nvSpPr>
        <p:spPr>
          <a:xfrm xmlns:a="http://schemas.openxmlformats.org/drawingml/2006/main">
            <a:off x="8077200" y="213360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68477"/>
                </a:solidFill>
                <a:latin typeface="Arial"/>
                <a:ea typeface="Arial"/>
                <a:cs typeface="Arial"/>
              </a:defRPr>
            </a:pPr>
            <a:r>
              <a:rPr sz="4800" b="1">
                <a:solidFill>
                  <a:srgbClr val="168477"/>
                </a:solidFill>
                <a:latin typeface="Arial"/>
                <a:ea typeface="Arial"/>
                <a:cs typeface="Arial"/>
              </a:rPr>
              <a:t>5,220</a:t>
            </a:r>
          </a:p>
        </p:txBody>
      </p:sp>
      <p:sp>
        <p:nvSpPr>
          <p:cNvPr id="12" name="">
            <a:extLst xmlns:a="http://schemas.openxmlformats.org/drawingml/2006/main">
              <a:ext uri="{FF2B5EF4-FFF2-40B4-BE49-F238E27FC236}">
                <a16:creationId xmlns:a16="http://schemas.microsoft.com/office/drawing/2014/main" id="{832550AC-1F26-43D6-A966-B2569DB745EB}"/>
              </a:ext>
            </a:extLst>
          </p:cNvPr>
          <p:cNvSpPr>
            <a:spLocks xmlns:a="http://schemas.openxmlformats.org/drawingml/2006/main" noGrp="1"/>
          </p:cNvSpPr>
          <p:nvPr/>
        </p:nvSpPr>
        <p:spPr>
          <a:xfrm xmlns:a="http://schemas.openxmlformats.org/drawingml/2006/main">
            <a:off x="8077200" y="3209925"/>
            <a:ext cx="328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B36"/>
                </a:solidFill>
                <a:latin typeface="Arial"/>
                <a:ea typeface="Arial"/>
                <a:cs typeface="Arial"/>
              </a:defRPr>
            </a:pPr>
            <a:r>
              <a:rPr sz="2175" b="1">
                <a:solidFill>
                  <a:srgbClr val="102B36"/>
                </a:solidFill>
                <a:latin typeface="Arial"/>
                <a:ea typeface="Arial"/>
                <a:cs typeface="Arial"/>
              </a:rPr>
              <a:t>Electrical equipment assets</a:t>
            </a:r>
          </a:p>
        </p:txBody>
      </p:sp>
      <p:sp>
        <p:nvSpPr>
          <p:cNvPr id="13" name="">
            <a:extLst xmlns:a="http://schemas.openxmlformats.org/drawingml/2006/main">
              <a:ext uri="{FF2B5EF4-FFF2-40B4-BE49-F238E27FC236}">
                <a16:creationId xmlns:a16="http://schemas.microsoft.com/office/drawing/2014/main" id="{B465F5F9-1CB4-4612-B042-26B4BC825527}"/>
              </a:ext>
            </a:extLst>
          </p:cNvPr>
          <p:cNvSpPr>
            <a:spLocks xmlns:a="http://schemas.openxmlformats.org/drawingml/2006/main" noGrp="1"/>
          </p:cNvSpPr>
          <p:nvPr/>
        </p:nvSpPr>
        <p:spPr>
          <a:xfrm xmlns:a="http://schemas.openxmlformats.org/drawingml/2006/main">
            <a:off x="8077200" y="4276725"/>
            <a:ext cx="3286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96370"/>
                </a:solidFill>
                <a:latin typeface="Arial"/>
                <a:ea typeface="Arial"/>
                <a:cs typeface="Arial"/>
              </a:defRPr>
            </a:pPr>
            <a:r>
              <a:rPr sz="1950" b="0">
                <a:solidFill>
                  <a:srgbClr val="496370"/>
                </a:solidFill>
                <a:latin typeface="Arial"/>
                <a:ea typeface="Arial"/>
                <a:cs typeface="Arial"/>
              </a:rPr>
              <a:t>Generated database inventory</a:t>
            </a:r>
          </a:p>
        </p:txBody>
      </p:sp>
      <p:sp>
        <p:nvSpPr>
          <p:cNvPr id="14" name="">
            <a:extLst xmlns:a="http://schemas.openxmlformats.org/drawingml/2006/main">
              <a:ext uri="{FF2B5EF4-FFF2-40B4-BE49-F238E27FC236}">
                <a16:creationId xmlns:a16="http://schemas.microsoft.com/office/drawing/2014/main" id="{184847EC-D61A-474B-BA90-D7974090AB7A}"/>
              </a:ext>
            </a:extLst>
          </p:cNvPr>
          <p:cNvSpPr>
            <a:spLocks xmlns:a="http://schemas.openxmlformats.org/drawingml/2006/main" noGrp="1"/>
          </p:cNvSpPr>
          <p:nvPr/>
        </p:nvSpPr>
        <p:spPr>
          <a:xfrm xmlns:a="http://schemas.openxmlformats.org/drawingml/2006/main">
            <a:off x="609600" y="56197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B36"/>
                </a:solidFill>
                <a:latin typeface="Arial"/>
                <a:ea typeface="Arial"/>
                <a:cs typeface="Arial"/>
              </a:defRPr>
            </a:pPr>
            <a:r>
              <a:rPr sz="1875" b="0">
                <a:solidFill>
                  <a:srgbClr val="102B36"/>
                </a:solidFill>
                <a:latin typeface="Arial"/>
                <a:ea typeface="Arial"/>
                <a:cs typeface="Arial"/>
              </a:rPr>
              <a:t>Reference data and generated operating data carry separate provenance.</a:t>
            </a:r>
          </a:p>
        </p:txBody>
      </p:sp>
    </p:spTree>
    <p:extLst>
      <p:ext uri="{BB962C8B-B14F-4D97-AF65-F5344CB8AC3E}">
        <p14:creationId xmlns:p14="http://schemas.microsoft.com/office/powerpoint/2010/main" val="1477777360"/>
      </p:ext>
    </p:extLst>
  </p:cSld>
</p:sld>
</file>

<file path=ppt/slides/slide7.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3C56D4-3637-4132-92F8-E964C4B61E37}"/>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E6D3"/>
                </a:solidFill>
                <a:latin typeface="Arial"/>
                <a:ea typeface="Arial"/>
                <a:cs typeface="Arial"/>
              </a:defRPr>
            </a:pPr>
            <a:r>
              <a:rPr sz="1275" b="1">
                <a:solidFill>
                  <a:srgbClr val="64E6D3"/>
                </a:solidFill>
                <a:latin typeface="Arial"/>
                <a:ea typeface="Arial"/>
                <a:cs typeface="Arial"/>
              </a:rPr>
              <a:t>TECHNICAL ARCHITECTURE</a:t>
            </a:r>
          </a:p>
        </p:txBody>
      </p:sp>
      <p:sp>
        <p:nvSpPr>
          <p:cNvPr id="2" name="">
            <a:extLst xmlns:a="http://schemas.openxmlformats.org/drawingml/2006/main">
              <a:ext uri="{FF2B5EF4-FFF2-40B4-BE49-F238E27FC236}">
                <a16:creationId xmlns:a16="http://schemas.microsoft.com/office/drawing/2014/main" id="{D8CB025C-D489-4EB6-BF7D-5EA9250FBF9F}"/>
              </a:ext>
            </a:extLst>
          </p:cNvPr>
          <p:cNvSpPr>
            <a:spLocks xmlns:a="http://schemas.openxmlformats.org/drawingml/2006/main" noGrp="1"/>
          </p:cNvSpPr>
          <p:nvPr/>
        </p:nvSpPr>
        <p:spPr>
          <a:xfrm xmlns:a="http://schemas.openxmlformats.org/drawingml/2006/main">
            <a:off x="609600" y="781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1F6F7"/>
                </a:solidFill>
                <a:latin typeface="Arial"/>
                <a:ea typeface="Arial"/>
                <a:cs typeface="Arial"/>
              </a:defRPr>
            </a:pPr>
            <a:r>
              <a:rPr sz="3375" b="1">
                <a:solidFill>
                  <a:srgbClr val="F1F6F7"/>
                </a:solidFill>
                <a:latin typeface="Arial"/>
                <a:ea typeface="Arial"/>
                <a:cs typeface="Arial"/>
              </a:rPr>
              <a:t>The backend owns the operating state</a:t>
            </a:r>
          </a:p>
        </p:txBody>
      </p:sp>
      <p:sp>
        <p:nvSpPr>
          <p:cNvPr id="3" name="">
            <a:extLst xmlns:a="http://schemas.openxmlformats.org/drawingml/2006/main">
              <a:ext uri="{FF2B5EF4-FFF2-40B4-BE49-F238E27FC236}">
                <a16:creationId xmlns:a16="http://schemas.microsoft.com/office/drawing/2014/main" id="{0BB0E87C-138E-4382-99EB-B88890CBE849}"/>
              </a:ext>
            </a:extLst>
          </p:cNvPr>
          <p:cNvSpPr>
            <a:spLocks xmlns:a="http://schemas.openxmlformats.org/drawingml/2006/main" noGrp="1"/>
          </p:cNvSpPr>
          <p:nvPr/>
        </p:nvSpPr>
        <p:spPr>
          <a:xfrm xmlns:a="http://schemas.openxmlformats.org/drawingml/2006/main">
            <a:off x="609600" y="63722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ADC2CC"/>
                </a:solidFill>
                <a:latin typeface="Arial"/>
                <a:ea typeface="Arial"/>
                <a:cs typeface="Arial"/>
              </a:defRPr>
            </a:pPr>
            <a:r>
              <a:rPr sz="1200" b="1">
                <a:solidFill>
                  <a:srgbClr val="ADC2CC"/>
                </a:solidFill>
                <a:latin typeface="Arial"/>
                <a:ea typeface="Arial"/>
                <a:cs typeface="Arial"/>
              </a:rPr>
              <a:t>AEGISGRID</a:t>
            </a:r>
          </a:p>
        </p:txBody>
      </p:sp>
      <p:sp>
        <p:nvSpPr>
          <p:cNvPr id="4" name="">
            <a:extLst xmlns:a="http://schemas.openxmlformats.org/drawingml/2006/main">
              <a:ext uri="{FF2B5EF4-FFF2-40B4-BE49-F238E27FC236}">
                <a16:creationId xmlns:a16="http://schemas.microsoft.com/office/drawing/2014/main" id="{0B063C25-7C3D-4F2A-A567-FC7BB3BFB413}"/>
              </a:ext>
            </a:extLst>
          </p:cNvPr>
          <p:cNvSpPr>
            <a:spLocks xmlns:a="http://schemas.openxmlformats.org/drawingml/2006/main" noGrp="1"/>
          </p:cNvSpPr>
          <p:nvPr/>
        </p:nvSpPr>
        <p:spPr>
          <a:xfrm xmlns:a="http://schemas.openxmlformats.org/drawingml/2006/main">
            <a:off x="11049000" y="63722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DC2CC"/>
                </a:solidFill>
                <a:latin typeface="Arial"/>
                <a:ea typeface="Arial"/>
                <a:cs typeface="Arial"/>
              </a:defRPr>
            </a:pPr>
            <a:r>
              <a:rPr sz="1200" b="0">
                <a:solidFill>
                  <a:srgbClr val="ADC2CC"/>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4C301D4-B872-4210-990E-06D58FFBE3A0}"/>
              </a:ext>
            </a:extLst>
          </p:cNvPr>
          <p:cNvSpPr>
            <a:spLocks xmlns:a="http://schemas.openxmlformats.org/drawingml/2006/main" noGrp="1"/>
          </p:cNvSpPr>
          <p:nvPr/>
        </p:nvSpPr>
        <p:spPr>
          <a:xfrm xmlns:a="http://schemas.openxmlformats.org/drawingml/2006/main">
            <a:off x="609600" y="2143125"/>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4E6D3"/>
                </a:solidFill>
                <a:latin typeface="Arial"/>
                <a:ea typeface="Arial"/>
                <a:cs typeface="Arial"/>
              </a:defRPr>
            </a:pPr>
            <a:r>
              <a:rPr sz="2175" b="1">
                <a:solidFill>
                  <a:srgbClr val="64E6D3"/>
                </a:solidFill>
                <a:latin typeface="Arial"/>
                <a:ea typeface="Arial"/>
                <a:cs typeface="Arial"/>
              </a:rPr>
              <a:t>Inputs</a:t>
            </a:r>
          </a:p>
        </p:txBody>
      </p:sp>
      <p:sp>
        <p:nvSpPr>
          <p:cNvPr id="6" name="">
            <a:extLst xmlns:a="http://schemas.openxmlformats.org/drawingml/2006/main">
              <a:ext uri="{FF2B5EF4-FFF2-40B4-BE49-F238E27FC236}">
                <a16:creationId xmlns:a16="http://schemas.microsoft.com/office/drawing/2014/main" id="{FD704B06-4AAD-4A9C-B8DF-5DD9F2833F51}"/>
              </a:ext>
            </a:extLst>
          </p:cNvPr>
          <p:cNvSpPr>
            <a:spLocks xmlns:a="http://schemas.openxmlformats.org/drawingml/2006/main" noGrp="1"/>
          </p:cNvSpPr>
          <p:nvPr/>
        </p:nvSpPr>
        <p:spPr>
          <a:xfrm xmlns:a="http://schemas.openxmlformats.org/drawingml/2006/main">
            <a:off x="609600" y="2667000"/>
            <a:ext cx="5191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OSM and GTFS references</a:t>
            </a:r>
          </a:p>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Stored profiles and operator scenarios</a:t>
            </a:r>
          </a:p>
        </p:txBody>
      </p:sp>
      <p:sp>
        <p:nvSpPr>
          <p:cNvPr id="7" name="">
            <a:extLst xmlns:a="http://schemas.openxmlformats.org/drawingml/2006/main">
              <a:ext uri="{FF2B5EF4-FFF2-40B4-BE49-F238E27FC236}">
                <a16:creationId xmlns:a16="http://schemas.microsoft.com/office/drawing/2014/main" id="{92233D66-DDC4-4363-BF23-3A193B300402}"/>
              </a:ext>
            </a:extLst>
          </p:cNvPr>
          <p:cNvSpPr>
            <a:spLocks xmlns:a="http://schemas.openxmlformats.org/drawingml/2006/main" noGrp="1"/>
          </p:cNvSpPr>
          <p:nvPr/>
        </p:nvSpPr>
        <p:spPr>
          <a:xfrm xmlns:a="http://schemas.openxmlformats.org/drawingml/2006/main">
            <a:off x="6381750" y="2143125"/>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4E6D3"/>
                </a:solidFill>
                <a:latin typeface="Arial"/>
                <a:ea typeface="Arial"/>
                <a:cs typeface="Arial"/>
              </a:defRPr>
            </a:pPr>
            <a:r>
              <a:rPr sz="2175" b="1">
                <a:solidFill>
                  <a:srgbClr val="64E6D3"/>
                </a:solidFill>
                <a:latin typeface="Arial"/>
                <a:ea typeface="Arial"/>
                <a:cs typeface="Arial"/>
              </a:rPr>
              <a:t>Shared runtime</a:t>
            </a:r>
          </a:p>
        </p:txBody>
      </p:sp>
      <p:sp>
        <p:nvSpPr>
          <p:cNvPr id="8" name="">
            <a:extLst xmlns:a="http://schemas.openxmlformats.org/drawingml/2006/main">
              <a:ext uri="{FF2B5EF4-FFF2-40B4-BE49-F238E27FC236}">
                <a16:creationId xmlns:a16="http://schemas.microsoft.com/office/drawing/2014/main" id="{4DB25823-2DEC-42F8-BF7A-9584B2AC4CBD}"/>
              </a:ext>
            </a:extLst>
          </p:cNvPr>
          <p:cNvSpPr>
            <a:spLocks xmlns:a="http://schemas.openxmlformats.org/drawingml/2006/main" noGrp="1"/>
          </p:cNvSpPr>
          <p:nvPr/>
        </p:nvSpPr>
        <p:spPr>
          <a:xfrm xmlns:a="http://schemas.openxmlformats.org/drawingml/2006/main">
            <a:off x="6381750" y="2667000"/>
            <a:ext cx="5191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FastAPI model updates and routing</a:t>
            </a:r>
          </a:p>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Supabase versioned run state</a:t>
            </a:r>
          </a:p>
        </p:txBody>
      </p:sp>
      <p:sp>
        <p:nvSpPr>
          <p:cNvPr id="9" name="">
            <a:extLst xmlns:a="http://schemas.openxmlformats.org/drawingml/2006/main">
              <a:ext uri="{FF2B5EF4-FFF2-40B4-BE49-F238E27FC236}">
                <a16:creationId xmlns:a16="http://schemas.microsoft.com/office/drawing/2014/main" id="{504EED2E-4DEF-4565-B3EA-69016E02BFE4}"/>
              </a:ext>
            </a:extLst>
          </p:cNvPr>
          <p:cNvSpPr>
            <a:spLocks xmlns:a="http://schemas.openxmlformats.org/drawingml/2006/main" noGrp="1"/>
          </p:cNvSpPr>
          <p:nvPr/>
        </p:nvSpPr>
        <p:spPr>
          <a:xfrm xmlns:a="http://schemas.openxmlformats.org/drawingml/2006/main">
            <a:off x="609600" y="4143375"/>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4E6D3"/>
                </a:solidFill>
                <a:latin typeface="Arial"/>
                <a:ea typeface="Arial"/>
                <a:cs typeface="Arial"/>
              </a:defRPr>
            </a:pPr>
            <a:r>
              <a:rPr sz="2175" b="1">
                <a:solidFill>
                  <a:srgbClr val="64E6D3"/>
                </a:solidFill>
                <a:latin typeface="Arial"/>
                <a:ea typeface="Arial"/>
                <a:cs typeface="Arial"/>
              </a:rPr>
              <a:t>Operator portals</a:t>
            </a:r>
          </a:p>
        </p:txBody>
      </p:sp>
      <p:sp>
        <p:nvSpPr>
          <p:cNvPr id="10" name="">
            <a:extLst xmlns:a="http://schemas.openxmlformats.org/drawingml/2006/main">
              <a:ext uri="{FF2B5EF4-FFF2-40B4-BE49-F238E27FC236}">
                <a16:creationId xmlns:a16="http://schemas.microsoft.com/office/drawing/2014/main" id="{764411A3-4BF6-4F4E-9C5D-0D8BB8D18AA5}"/>
              </a:ext>
            </a:extLst>
          </p:cNvPr>
          <p:cNvSpPr>
            <a:spLocks xmlns:a="http://schemas.openxmlformats.org/drawingml/2006/main" noGrp="1"/>
          </p:cNvSpPr>
          <p:nvPr/>
        </p:nvSpPr>
        <p:spPr>
          <a:xfrm xmlns:a="http://schemas.openxmlformats.org/drawingml/2006/main">
            <a:off x="609600" y="4667250"/>
            <a:ext cx="5191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Next.js command center</a:t>
            </a:r>
          </a:p>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Traffic, ambulance, electricity and metro</a:t>
            </a:r>
          </a:p>
        </p:txBody>
      </p:sp>
      <p:sp>
        <p:nvSpPr>
          <p:cNvPr id="11" name="">
            <a:extLst xmlns:a="http://schemas.openxmlformats.org/drawingml/2006/main">
              <a:ext uri="{FF2B5EF4-FFF2-40B4-BE49-F238E27FC236}">
                <a16:creationId xmlns:a16="http://schemas.microsoft.com/office/drawing/2014/main" id="{0D8A07CE-527B-4DE7-943F-385C41CA7C28}"/>
              </a:ext>
            </a:extLst>
          </p:cNvPr>
          <p:cNvSpPr>
            <a:spLocks xmlns:a="http://schemas.openxmlformats.org/drawingml/2006/main" noGrp="1"/>
          </p:cNvSpPr>
          <p:nvPr/>
        </p:nvSpPr>
        <p:spPr>
          <a:xfrm xmlns:a="http://schemas.openxmlformats.org/drawingml/2006/main">
            <a:off x="6381750" y="4143375"/>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4E6D3"/>
                </a:solidFill>
                <a:latin typeface="Arial"/>
                <a:ea typeface="Arial"/>
                <a:cs typeface="Arial"/>
              </a:defRPr>
            </a:pPr>
            <a:r>
              <a:rPr sz="2175" b="1">
                <a:solidFill>
                  <a:srgbClr val="64E6D3"/>
                </a:solidFill>
                <a:latin typeface="Arial"/>
                <a:ea typeface="Arial"/>
                <a:cs typeface="Arial"/>
              </a:rPr>
              <a:t>Optional adapters</a:t>
            </a:r>
          </a:p>
        </p:txBody>
      </p:sp>
      <p:sp>
        <p:nvSpPr>
          <p:cNvPr id="12" name="">
            <a:extLst xmlns:a="http://schemas.openxmlformats.org/drawingml/2006/main">
              <a:ext uri="{FF2B5EF4-FFF2-40B4-BE49-F238E27FC236}">
                <a16:creationId xmlns:a16="http://schemas.microsoft.com/office/drawing/2014/main" id="{9C92D83F-06AF-4A4F-AAAE-4ED90E8D8B65}"/>
              </a:ext>
            </a:extLst>
          </p:cNvPr>
          <p:cNvSpPr>
            <a:spLocks xmlns:a="http://schemas.openxmlformats.org/drawingml/2006/main" noGrp="1"/>
          </p:cNvSpPr>
          <p:nvPr/>
        </p:nvSpPr>
        <p:spPr>
          <a:xfrm xmlns:a="http://schemas.openxmlformats.org/drawingml/2006/main">
            <a:off x="6381750" y="4667250"/>
            <a:ext cx="5191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Google data services and AI explanations</a:t>
            </a:r>
          </a:p>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Hardware telemetry for a future pilot</a:t>
            </a:r>
          </a:p>
        </p:txBody>
      </p:sp>
    </p:spTree>
    <p:extLst>
      <p:ext uri="{BB962C8B-B14F-4D97-AF65-F5344CB8AC3E}">
        <p14:creationId xmlns:p14="http://schemas.microsoft.com/office/powerpoint/2010/main" val="1643329229"/>
      </p:ext>
    </p:extLst>
  </p:cSld>
</p:sld>
</file>

<file path=ppt/slides/slide8.xml><?xml version="1.0" encoding="utf-8"?>
<p:sld xmlns:p="http://schemas.openxmlformats.org/presentationml/2006/main">
  <p:cSld>
    <p:bg>
      <p:bgPr>
        <a:solidFill xmlns:a="http://schemas.openxmlformats.org/drawingml/2006/main">
          <a:srgbClr val="EDF3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4DE2BF-4A28-41F4-ABFE-25550CA85262}"/>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6F66"/>
                </a:solidFill>
                <a:latin typeface="Arial"/>
                <a:ea typeface="Arial"/>
                <a:cs typeface="Arial"/>
              </a:defRPr>
            </a:pPr>
            <a:r>
              <a:rPr sz="1275" b="1">
                <a:solidFill>
                  <a:srgbClr val="166F66"/>
                </a:solidFill>
                <a:latin typeface="Arial"/>
                <a:ea typeface="Arial"/>
                <a:cs typeface="Arial"/>
              </a:rPr>
              <a:t>WHY IT MATTERS</a:t>
            </a:r>
          </a:p>
        </p:txBody>
      </p:sp>
      <p:sp>
        <p:nvSpPr>
          <p:cNvPr id="2" name="">
            <a:extLst xmlns:a="http://schemas.openxmlformats.org/drawingml/2006/main">
              <a:ext uri="{FF2B5EF4-FFF2-40B4-BE49-F238E27FC236}">
                <a16:creationId xmlns:a16="http://schemas.microsoft.com/office/drawing/2014/main" id="{145FF5CA-FC19-4272-B9A0-AE1A6D1EA447}"/>
              </a:ext>
            </a:extLst>
          </p:cNvPr>
          <p:cNvSpPr>
            <a:spLocks xmlns:a="http://schemas.openxmlformats.org/drawingml/2006/main" noGrp="1"/>
          </p:cNvSpPr>
          <p:nvPr/>
        </p:nvSpPr>
        <p:spPr>
          <a:xfrm xmlns:a="http://schemas.openxmlformats.org/drawingml/2006/main">
            <a:off x="609600" y="781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02B36"/>
                </a:solidFill>
                <a:latin typeface="Arial"/>
                <a:ea typeface="Arial"/>
                <a:cs typeface="Arial"/>
              </a:defRPr>
            </a:pPr>
            <a:r>
              <a:rPr sz="3375" b="1">
                <a:solidFill>
                  <a:srgbClr val="102B36"/>
                </a:solidFill>
                <a:latin typeface="Arial"/>
                <a:ea typeface="Arial"/>
                <a:cs typeface="Arial"/>
              </a:rPr>
              <a:t>Every response has a traceable cause</a:t>
            </a:r>
          </a:p>
        </p:txBody>
      </p:sp>
      <p:sp>
        <p:nvSpPr>
          <p:cNvPr id="3" name="">
            <a:extLst xmlns:a="http://schemas.openxmlformats.org/drawingml/2006/main">
              <a:ext uri="{FF2B5EF4-FFF2-40B4-BE49-F238E27FC236}">
                <a16:creationId xmlns:a16="http://schemas.microsoft.com/office/drawing/2014/main" id="{C868917C-BAC7-4E06-83BE-8C4071FD24B8}"/>
              </a:ext>
            </a:extLst>
          </p:cNvPr>
          <p:cNvSpPr>
            <a:spLocks xmlns:a="http://schemas.openxmlformats.org/drawingml/2006/main" noGrp="1"/>
          </p:cNvSpPr>
          <p:nvPr/>
        </p:nvSpPr>
        <p:spPr>
          <a:xfrm xmlns:a="http://schemas.openxmlformats.org/drawingml/2006/main">
            <a:off x="609600" y="63722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496370"/>
                </a:solidFill>
                <a:latin typeface="Arial"/>
                <a:ea typeface="Arial"/>
                <a:cs typeface="Arial"/>
              </a:defRPr>
            </a:pPr>
            <a:r>
              <a:rPr sz="1200" b="1">
                <a:solidFill>
                  <a:srgbClr val="496370"/>
                </a:solidFill>
                <a:latin typeface="Arial"/>
                <a:ea typeface="Arial"/>
                <a:cs typeface="Arial"/>
              </a:rPr>
              <a:t>AEGISGRID</a:t>
            </a:r>
          </a:p>
        </p:txBody>
      </p:sp>
      <p:sp>
        <p:nvSpPr>
          <p:cNvPr id="4" name="">
            <a:extLst xmlns:a="http://schemas.openxmlformats.org/drawingml/2006/main">
              <a:ext uri="{FF2B5EF4-FFF2-40B4-BE49-F238E27FC236}">
                <a16:creationId xmlns:a16="http://schemas.microsoft.com/office/drawing/2014/main" id="{6A4B2551-BED4-4F77-990E-C5D24C0E22E5}"/>
              </a:ext>
            </a:extLst>
          </p:cNvPr>
          <p:cNvSpPr>
            <a:spLocks xmlns:a="http://schemas.openxmlformats.org/drawingml/2006/main" noGrp="1"/>
          </p:cNvSpPr>
          <p:nvPr/>
        </p:nvSpPr>
        <p:spPr>
          <a:xfrm xmlns:a="http://schemas.openxmlformats.org/drawingml/2006/main">
            <a:off x="11049000" y="63722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96370"/>
                </a:solidFill>
                <a:latin typeface="Arial"/>
                <a:ea typeface="Arial"/>
                <a:cs typeface="Arial"/>
              </a:defRPr>
            </a:pPr>
            <a:r>
              <a:rPr sz="1200" b="0">
                <a:solidFill>
                  <a:srgbClr val="496370"/>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3386D09C-03B2-413A-996A-F6B41ED704A2}"/>
              </a:ext>
            </a:extLst>
          </p:cNvPr>
          <p:cNvSpPr>
            <a:spLocks xmlns:a="http://schemas.openxmlformats.org/drawingml/2006/main" noGrp="1"/>
          </p:cNvSpPr>
          <p:nvPr/>
        </p:nvSpPr>
        <p:spPr>
          <a:xfrm xmlns:a="http://schemas.openxmlformats.org/drawingml/2006/main">
            <a:off x="619125" y="209550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02B36"/>
                </a:solidFill>
                <a:latin typeface="Arial"/>
                <a:ea typeface="Arial"/>
                <a:cs typeface="Arial"/>
              </a:defRPr>
            </a:pPr>
            <a:r>
              <a:rPr sz="2850" b="1">
                <a:solidFill>
                  <a:srgbClr val="102B36"/>
                </a:solidFill>
                <a:latin typeface="Arial"/>
                <a:ea typeface="Arial"/>
                <a:cs typeface="Arial"/>
              </a:rPr>
              <a:t>Event context</a:t>
            </a:r>
          </a:p>
        </p:txBody>
      </p:sp>
      <p:sp>
        <p:nvSpPr>
          <p:cNvPr id="6" name="">
            <a:extLst xmlns:a="http://schemas.openxmlformats.org/drawingml/2006/main">
              <a:ext uri="{FF2B5EF4-FFF2-40B4-BE49-F238E27FC236}">
                <a16:creationId xmlns:a16="http://schemas.microsoft.com/office/drawing/2014/main" id="{DB8C6944-A502-40CD-9274-7ACB1EFA3FB6}"/>
              </a:ext>
            </a:extLst>
          </p:cNvPr>
          <p:cNvSpPr>
            <a:spLocks xmlns:a="http://schemas.openxmlformats.org/drawingml/2006/main" noGrp="1"/>
          </p:cNvSpPr>
          <p:nvPr/>
        </p:nvSpPr>
        <p:spPr>
          <a:xfrm xmlns:a="http://schemas.openxmlformats.org/drawingml/2006/main">
            <a:off x="619125" y="27241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496370"/>
                </a:solidFill>
                <a:latin typeface="Arial"/>
                <a:ea typeface="Arial"/>
                <a:cs typeface="Arial"/>
              </a:defRPr>
            </a:pPr>
            <a:r>
              <a:rPr sz="2175" b="0">
                <a:solidFill>
                  <a:srgbClr val="496370"/>
                </a:solidFill>
                <a:latin typeface="Arial"/>
                <a:ea typeface="Arial"/>
                <a:cs typeface="Arial"/>
              </a:rPr>
              <a:t>All portals use the same scenario and clock.</a:t>
            </a:r>
          </a:p>
        </p:txBody>
      </p:sp>
      <p:sp>
        <p:nvSpPr>
          <p:cNvPr id="7" name="">
            <a:extLst xmlns:a="http://schemas.openxmlformats.org/drawingml/2006/main">
              <a:ext uri="{FF2B5EF4-FFF2-40B4-BE49-F238E27FC236}">
                <a16:creationId xmlns:a16="http://schemas.microsoft.com/office/drawing/2014/main" id="{C375780C-6237-42F8-870B-21CF667E2242}"/>
              </a:ext>
            </a:extLst>
          </p:cNvPr>
          <p:cNvSpPr>
            <a:spLocks xmlns:a="http://schemas.openxmlformats.org/drawingml/2006/main" noGrp="1"/>
          </p:cNvSpPr>
          <p:nvPr/>
        </p:nvSpPr>
        <p:spPr>
          <a:xfrm xmlns:a="http://schemas.openxmlformats.org/drawingml/2006/main">
            <a:off x="619125" y="3609975"/>
            <a:ext cx="704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02B36"/>
                </a:solidFill>
                <a:latin typeface="Arial"/>
                <a:ea typeface="Arial"/>
                <a:cs typeface="Arial"/>
              </a:defRPr>
            </a:pPr>
            <a:r>
              <a:rPr sz="2850" b="1">
                <a:solidFill>
                  <a:srgbClr val="102B36"/>
                </a:solidFill>
                <a:latin typeface="Arial"/>
                <a:ea typeface="Arial"/>
                <a:cs typeface="Arial"/>
              </a:rPr>
              <a:t>Causal consequences</a:t>
            </a:r>
          </a:p>
        </p:txBody>
      </p:sp>
      <p:sp>
        <p:nvSpPr>
          <p:cNvPr id="8" name="">
            <a:extLst xmlns:a="http://schemas.openxmlformats.org/drawingml/2006/main">
              <a:ext uri="{FF2B5EF4-FFF2-40B4-BE49-F238E27FC236}">
                <a16:creationId xmlns:a16="http://schemas.microsoft.com/office/drawing/2014/main" id="{8DD9C7C4-A81C-49D8-B767-40B8EDD259C0}"/>
              </a:ext>
            </a:extLst>
          </p:cNvPr>
          <p:cNvSpPr>
            <a:spLocks xmlns:a="http://schemas.openxmlformats.org/drawingml/2006/main" noGrp="1"/>
          </p:cNvSpPr>
          <p:nvPr/>
        </p:nvSpPr>
        <p:spPr>
          <a:xfrm xmlns:a="http://schemas.openxmlformats.org/drawingml/2006/main">
            <a:off x="619125" y="4238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496370"/>
                </a:solidFill>
                <a:latin typeface="Arial"/>
                <a:ea typeface="Arial"/>
                <a:cs typeface="Arial"/>
              </a:defRPr>
            </a:pPr>
            <a:r>
              <a:rPr sz="2175" b="0">
                <a:solidFill>
                  <a:srgbClr val="496370"/>
                </a:solidFill>
                <a:latin typeface="Arial"/>
                <a:ea typeface="Arial"/>
                <a:cs typeface="Arial"/>
              </a:rPr>
              <a:t>Operators can inspect why conditions changed.</a:t>
            </a:r>
          </a:p>
        </p:txBody>
      </p:sp>
      <p:sp>
        <p:nvSpPr>
          <p:cNvPr id="9" name="">
            <a:extLst xmlns:a="http://schemas.openxmlformats.org/drawingml/2006/main">
              <a:ext uri="{FF2B5EF4-FFF2-40B4-BE49-F238E27FC236}">
                <a16:creationId xmlns:a16="http://schemas.microsoft.com/office/drawing/2014/main" id="{6B89F660-CA2E-446B-975A-3D8245AA6482}"/>
              </a:ext>
            </a:extLst>
          </p:cNvPr>
          <p:cNvSpPr>
            <a:spLocks xmlns:a="http://schemas.openxmlformats.org/drawingml/2006/main" noGrp="1"/>
          </p:cNvSpPr>
          <p:nvPr/>
        </p:nvSpPr>
        <p:spPr>
          <a:xfrm xmlns:a="http://schemas.openxmlformats.org/drawingml/2006/main">
            <a:off x="619125" y="5124450"/>
            <a:ext cx="704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02B36"/>
                </a:solidFill>
                <a:latin typeface="Arial"/>
                <a:ea typeface="Arial"/>
                <a:cs typeface="Arial"/>
              </a:defRPr>
            </a:pPr>
            <a:r>
              <a:rPr sz="2850" b="1">
                <a:solidFill>
                  <a:srgbClr val="102B36"/>
                </a:solidFill>
                <a:latin typeface="Arial"/>
                <a:ea typeface="Arial"/>
                <a:cs typeface="Arial"/>
              </a:rPr>
              <a:t>Accountable actions</a:t>
            </a:r>
          </a:p>
        </p:txBody>
      </p:sp>
      <p:sp>
        <p:nvSpPr>
          <p:cNvPr id="10" name="">
            <a:extLst xmlns:a="http://schemas.openxmlformats.org/drawingml/2006/main">
              <a:ext uri="{FF2B5EF4-FFF2-40B4-BE49-F238E27FC236}">
                <a16:creationId xmlns:a16="http://schemas.microsoft.com/office/drawing/2014/main" id="{7E110505-13BD-4304-9A9A-BFDBC5A5A24E}"/>
              </a:ext>
            </a:extLst>
          </p:cNvPr>
          <p:cNvSpPr>
            <a:spLocks xmlns:a="http://schemas.openxmlformats.org/drawingml/2006/main" noGrp="1"/>
          </p:cNvSpPr>
          <p:nvPr/>
        </p:nvSpPr>
        <p:spPr>
          <a:xfrm xmlns:a="http://schemas.openxmlformats.org/drawingml/2006/main">
            <a:off x="619125" y="5743575"/>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496370"/>
                </a:solidFill>
                <a:latin typeface="Arial"/>
                <a:ea typeface="Arial"/>
                <a:cs typeface="Arial"/>
              </a:defRPr>
            </a:pPr>
            <a:r>
              <a:rPr sz="2175" b="0">
                <a:solidFill>
                  <a:srgbClr val="496370"/>
                </a:solidFill>
                <a:latin typeface="Arial"/>
                <a:ea typeface="Arial"/>
                <a:cs typeface="Arial"/>
              </a:rPr>
              <a:t>Supported approvals leave an event trail.</a:t>
            </a:r>
          </a:p>
        </p:txBody>
      </p:sp>
    </p:spTree>
    <p:extLst>
      <p:ext uri="{BB962C8B-B14F-4D97-AF65-F5344CB8AC3E}">
        <p14:creationId xmlns:p14="http://schemas.microsoft.com/office/powerpoint/2010/main" val="1539712963"/>
      </p:ext>
    </p:extLst>
  </p:cSld>
</p:sld>
</file>

<file path=ppt/slides/slide9.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E036C8-A375-4660-8E54-9E059E414B60}"/>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E6D3"/>
                </a:solidFill>
                <a:latin typeface="Arial"/>
                <a:ea typeface="Arial"/>
                <a:cs typeface="Arial"/>
              </a:defRPr>
            </a:pPr>
            <a:r>
              <a:rPr sz="1275" b="1">
                <a:solidFill>
                  <a:srgbClr val="64E6D3"/>
                </a:solidFill>
                <a:latin typeface="Arial"/>
                <a:ea typeface="Arial"/>
                <a:cs typeface="Arial"/>
              </a:rPr>
              <a:t>PILOT AND IMPACT</a:t>
            </a:r>
          </a:p>
        </p:txBody>
      </p:sp>
      <p:sp>
        <p:nvSpPr>
          <p:cNvPr id="2" name="">
            <a:extLst xmlns:a="http://schemas.openxmlformats.org/drawingml/2006/main">
              <a:ext uri="{FF2B5EF4-FFF2-40B4-BE49-F238E27FC236}">
                <a16:creationId xmlns:a16="http://schemas.microsoft.com/office/drawing/2014/main" id="{61B34E65-BA96-4831-BD44-878974A66E5D}"/>
              </a:ext>
            </a:extLst>
          </p:cNvPr>
          <p:cNvSpPr>
            <a:spLocks xmlns:a="http://schemas.openxmlformats.org/drawingml/2006/main" noGrp="1"/>
          </p:cNvSpPr>
          <p:nvPr/>
        </p:nvSpPr>
        <p:spPr>
          <a:xfrm xmlns:a="http://schemas.openxmlformats.org/drawingml/2006/main">
            <a:off x="609600" y="781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1F6F7"/>
                </a:solidFill>
                <a:latin typeface="Arial"/>
                <a:ea typeface="Arial"/>
                <a:cs typeface="Arial"/>
              </a:defRPr>
            </a:pPr>
            <a:r>
              <a:rPr sz="3375" b="1">
                <a:solidFill>
                  <a:srgbClr val="F1F6F7"/>
                </a:solidFill>
                <a:latin typeface="Arial"/>
                <a:ea typeface="Arial"/>
                <a:cs typeface="Arial"/>
              </a:rPr>
              <a:t>A focused pilot can test the value</a:t>
            </a:r>
          </a:p>
        </p:txBody>
      </p:sp>
      <p:sp>
        <p:nvSpPr>
          <p:cNvPr id="3" name="">
            <a:extLst xmlns:a="http://schemas.openxmlformats.org/drawingml/2006/main">
              <a:ext uri="{FF2B5EF4-FFF2-40B4-BE49-F238E27FC236}">
                <a16:creationId xmlns:a16="http://schemas.microsoft.com/office/drawing/2014/main" id="{57059B66-C4A7-459C-AE95-51EAE589ADCD}"/>
              </a:ext>
            </a:extLst>
          </p:cNvPr>
          <p:cNvSpPr>
            <a:spLocks xmlns:a="http://schemas.openxmlformats.org/drawingml/2006/main" noGrp="1"/>
          </p:cNvSpPr>
          <p:nvPr/>
        </p:nvSpPr>
        <p:spPr>
          <a:xfrm xmlns:a="http://schemas.openxmlformats.org/drawingml/2006/main">
            <a:off x="609600" y="63722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ADC2CC"/>
                </a:solidFill>
                <a:latin typeface="Arial"/>
                <a:ea typeface="Arial"/>
                <a:cs typeface="Arial"/>
              </a:defRPr>
            </a:pPr>
            <a:r>
              <a:rPr sz="1200" b="1">
                <a:solidFill>
                  <a:srgbClr val="ADC2CC"/>
                </a:solidFill>
                <a:latin typeface="Arial"/>
                <a:ea typeface="Arial"/>
                <a:cs typeface="Arial"/>
              </a:rPr>
              <a:t>AEGISGRID</a:t>
            </a:r>
          </a:p>
        </p:txBody>
      </p:sp>
      <p:sp>
        <p:nvSpPr>
          <p:cNvPr id="4" name="">
            <a:extLst xmlns:a="http://schemas.openxmlformats.org/drawingml/2006/main">
              <a:ext uri="{FF2B5EF4-FFF2-40B4-BE49-F238E27FC236}">
                <a16:creationId xmlns:a16="http://schemas.microsoft.com/office/drawing/2014/main" id="{ABB41C84-28DD-45DD-A059-A69591248B86}"/>
              </a:ext>
            </a:extLst>
          </p:cNvPr>
          <p:cNvSpPr>
            <a:spLocks xmlns:a="http://schemas.openxmlformats.org/drawingml/2006/main" noGrp="1"/>
          </p:cNvSpPr>
          <p:nvPr/>
        </p:nvSpPr>
        <p:spPr>
          <a:xfrm xmlns:a="http://schemas.openxmlformats.org/drawingml/2006/main">
            <a:off x="11049000" y="63722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DC2CC"/>
                </a:solidFill>
                <a:latin typeface="Arial"/>
                <a:ea typeface="Arial"/>
                <a:cs typeface="Arial"/>
              </a:defRPr>
            </a:pPr>
            <a:r>
              <a:rPr sz="1200" b="0">
                <a:solidFill>
                  <a:srgbClr val="ADC2CC"/>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4091B395-A9FC-4A12-9499-BDA5686CEFD5}"/>
              </a:ext>
            </a:extLst>
          </p:cNvPr>
          <p:cNvSpPr>
            <a:spLocks xmlns:a="http://schemas.openxmlformats.org/drawingml/2006/main" noGrp="1"/>
          </p:cNvSpPr>
          <p:nvPr/>
        </p:nvSpPr>
        <p:spPr>
          <a:xfrm xmlns:a="http://schemas.openxmlformats.org/drawingml/2006/main">
            <a:off x="609600" y="2114550"/>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64E6D3"/>
                </a:solidFill>
                <a:latin typeface="Arial"/>
                <a:ea typeface="Arial"/>
                <a:cs typeface="Arial"/>
              </a:defRPr>
            </a:pPr>
            <a:r>
              <a:rPr sz="2550" b="1">
                <a:solidFill>
                  <a:srgbClr val="64E6D3"/>
                </a:solidFill>
                <a:latin typeface="Arial"/>
                <a:ea typeface="Arial"/>
                <a:cs typeface="Arial"/>
              </a:rPr>
              <a:t>Pilot scope</a:t>
            </a:r>
          </a:p>
        </p:txBody>
      </p:sp>
      <p:sp>
        <p:nvSpPr>
          <p:cNvPr id="6" name="">
            <a:extLst xmlns:a="http://schemas.openxmlformats.org/drawingml/2006/main">
              <a:ext uri="{FF2B5EF4-FFF2-40B4-BE49-F238E27FC236}">
                <a16:creationId xmlns:a16="http://schemas.microsoft.com/office/drawing/2014/main" id="{3B20AD17-3FD3-462B-8198-0F22A48D5D66}"/>
              </a:ext>
            </a:extLst>
          </p:cNvPr>
          <p:cNvSpPr>
            <a:spLocks xmlns:a="http://schemas.openxmlformats.org/drawingml/2006/main" noGrp="1"/>
          </p:cNvSpPr>
          <p:nvPr/>
        </p:nvSpPr>
        <p:spPr>
          <a:xfrm xmlns:a="http://schemas.openxmlformats.org/drawingml/2006/main">
            <a:off x="609600" y="2876550"/>
            <a:ext cx="48101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1F6F7"/>
                </a:solidFill>
                <a:latin typeface="Arial"/>
                <a:ea typeface="Arial"/>
                <a:cs typeface="Arial"/>
              </a:defRPr>
            </a:pPr>
            <a:r>
              <a:rPr sz="2550" b="0">
                <a:solidFill>
                  <a:srgbClr val="F1F6F7"/>
                </a:solidFill>
                <a:latin typeface="Arial"/>
                <a:ea typeface="Arial"/>
                <a:cs typeface="Arial"/>
              </a:rPr>
              <a:t>One area</a:t>
            </a:r>
          </a:p>
          <a:p xmlns:a="http://schemas.openxmlformats.org/drawingml/2006/main">
            <a:pPr>
              <a:defRPr sz="2550" b="0">
                <a:solidFill>
                  <a:srgbClr val="F1F6F7"/>
                </a:solidFill>
                <a:latin typeface="Arial"/>
                <a:ea typeface="Arial"/>
                <a:cs typeface="Arial"/>
              </a:defRPr>
            </a:pPr>
            <a:r>
              <a:rPr sz="2550" b="0">
                <a:solidFill>
                  <a:srgbClr val="F1F6F7"/>
                </a:solidFill>
                <a:latin typeface="Arial"/>
                <a:ea typeface="Arial"/>
                <a:cs typeface="Arial"/>
              </a:rPr>
              <a:t>One rainfall scenario</a:t>
            </a:r>
          </a:p>
          <a:p xmlns:a="http://schemas.openxmlformats.org/drawingml/2006/main">
            <a:pPr>
              <a:defRPr sz="2550" b="0">
                <a:solidFill>
                  <a:srgbClr val="F1F6F7"/>
                </a:solidFill>
                <a:latin typeface="Arial"/>
                <a:ea typeface="Arial"/>
                <a:cs typeface="Arial"/>
              </a:defRPr>
            </a:pPr>
            <a:r>
              <a:rPr sz="2550" b="0">
                <a:solidFill>
                  <a:srgbClr val="F1F6F7"/>
                </a:solidFill>
                <a:latin typeface="Arial"/>
                <a:ea typeface="Arial"/>
                <a:cs typeface="Arial"/>
              </a:rPr>
              <a:t>One authorized meter feed</a:t>
            </a:r>
          </a:p>
        </p:txBody>
      </p:sp>
      <p:sp>
        <p:nvSpPr>
          <p:cNvPr id="7" name="">
            <a:extLst xmlns:a="http://schemas.openxmlformats.org/drawingml/2006/main">
              <a:ext uri="{FF2B5EF4-FFF2-40B4-BE49-F238E27FC236}">
                <a16:creationId xmlns:a16="http://schemas.microsoft.com/office/drawing/2014/main" id="{5731DDB7-2E0E-4439-9959-B83022A3DB5F}"/>
              </a:ext>
            </a:extLst>
          </p:cNvPr>
          <p:cNvSpPr>
            <a:spLocks xmlns:a="http://schemas.openxmlformats.org/drawingml/2006/main" noGrp="1"/>
          </p:cNvSpPr>
          <p:nvPr/>
        </p:nvSpPr>
        <p:spPr>
          <a:xfrm xmlns:a="http://schemas.openxmlformats.org/drawingml/2006/main">
            <a:off x="6477000" y="21145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64E6D3"/>
                </a:solidFill>
                <a:latin typeface="Arial"/>
                <a:ea typeface="Arial"/>
                <a:cs typeface="Arial"/>
              </a:defRPr>
            </a:pPr>
            <a:r>
              <a:rPr sz="2550" b="1">
                <a:solidFill>
                  <a:srgbClr val="64E6D3"/>
                </a:solidFill>
                <a:latin typeface="Arial"/>
                <a:ea typeface="Arial"/>
                <a:cs typeface="Arial"/>
              </a:rPr>
              <a:t>Success measures</a:t>
            </a:r>
          </a:p>
        </p:txBody>
      </p:sp>
      <p:sp>
        <p:nvSpPr>
          <p:cNvPr id="8" name="">
            <a:extLst xmlns:a="http://schemas.openxmlformats.org/drawingml/2006/main">
              <a:ext uri="{FF2B5EF4-FFF2-40B4-BE49-F238E27FC236}">
                <a16:creationId xmlns:a16="http://schemas.microsoft.com/office/drawing/2014/main" id="{3BC36995-8330-4692-B643-D8C5D0B550BB}"/>
              </a:ext>
            </a:extLst>
          </p:cNvPr>
          <p:cNvSpPr>
            <a:spLocks xmlns:a="http://schemas.openxmlformats.org/drawingml/2006/main" noGrp="1"/>
          </p:cNvSpPr>
          <p:nvPr/>
        </p:nvSpPr>
        <p:spPr>
          <a:xfrm xmlns:a="http://schemas.openxmlformats.org/drawingml/2006/main">
            <a:off x="6477000" y="2876550"/>
            <a:ext cx="5048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1F6F7"/>
                </a:solidFill>
                <a:latin typeface="Arial"/>
                <a:ea typeface="Arial"/>
                <a:cs typeface="Arial"/>
              </a:defRPr>
            </a:pPr>
            <a:r>
              <a:rPr sz="2250" b="0">
                <a:solidFill>
                  <a:srgbClr val="F1F6F7"/>
                </a:solidFill>
                <a:latin typeface="Arial"/>
                <a:ea typeface="Arial"/>
                <a:cs typeface="Arial"/>
              </a:rPr>
              <a:t>Time to approved response</a:t>
            </a:r>
          </a:p>
          <a:p xmlns:a="http://schemas.openxmlformats.org/drawingml/2006/main">
            <a:pPr>
              <a:defRPr sz="2250" b="0">
                <a:solidFill>
                  <a:srgbClr val="F1F6F7"/>
                </a:solidFill>
                <a:latin typeface="Arial"/>
                <a:ea typeface="Arial"/>
                <a:cs typeface="Arial"/>
              </a:defRPr>
            </a:pPr>
            <a:r>
              <a:rPr sz="2250" b="0">
                <a:solidFill>
                  <a:srgbClr val="F1F6F7"/>
                </a:solidFill>
                <a:latin typeface="Arial"/>
                <a:ea typeface="Arial"/>
                <a:cs typeface="Arial"/>
              </a:rPr>
              <a:t>Routes through blocked roads</a:t>
            </a:r>
          </a:p>
          <a:p xmlns:a="http://schemas.openxmlformats.org/drawingml/2006/main">
            <a:pPr>
              <a:defRPr sz="2250" b="0">
                <a:solidFill>
                  <a:srgbClr val="F1F6F7"/>
                </a:solidFill>
                <a:latin typeface="Arial"/>
                <a:ea typeface="Arial"/>
                <a:cs typeface="Arial"/>
              </a:defRPr>
            </a:pPr>
            <a:r>
              <a:rPr sz="2250" b="0">
                <a:solidFill>
                  <a:srgbClr val="F1F6F7"/>
                </a:solidFill>
                <a:latin typeface="Arial"/>
                <a:ea typeface="Arial"/>
                <a:cs typeface="Arial"/>
              </a:rPr>
              <a:t>Queue growth and recovery</a:t>
            </a:r>
          </a:p>
          <a:p xmlns:a="http://schemas.openxmlformats.org/drawingml/2006/main">
            <a:pPr>
              <a:defRPr sz="2250" b="0">
                <a:solidFill>
                  <a:srgbClr val="F1F6F7"/>
                </a:solidFill>
                <a:latin typeface="Arial"/>
                <a:ea typeface="Arial"/>
                <a:cs typeface="Arial"/>
              </a:defRPr>
            </a:pPr>
            <a:r>
              <a:rPr sz="2250" b="0">
                <a:solidFill>
                  <a:srgbClr val="F1F6F7"/>
                </a:solidFill>
                <a:latin typeface="Arial"/>
                <a:ea typeface="Arial"/>
                <a:cs typeface="Arial"/>
              </a:rPr>
              <a:t>Agreement across portals</a:t>
            </a:r>
          </a:p>
        </p:txBody>
      </p:sp>
      <p:sp>
        <p:nvSpPr>
          <p:cNvPr id="9" name="">
            <a:extLst xmlns:a="http://schemas.openxmlformats.org/drawingml/2006/main">
              <a:ext uri="{FF2B5EF4-FFF2-40B4-BE49-F238E27FC236}">
                <a16:creationId xmlns:a16="http://schemas.microsoft.com/office/drawing/2014/main" id="{5525EC3A-F8EE-42D5-9B7D-6BA4A82FACF0}"/>
              </a:ext>
            </a:extLst>
          </p:cNvPr>
          <p:cNvSpPr>
            <a:spLocks xmlns:a="http://schemas.openxmlformats.org/drawingml/2006/main" noGrp="1"/>
          </p:cNvSpPr>
          <p:nvPr/>
        </p:nvSpPr>
        <p:spPr>
          <a:xfrm xmlns:a="http://schemas.openxmlformats.org/drawingml/2006/main">
            <a:off x="609600" y="56769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4C16B"/>
                </a:solidFill>
                <a:latin typeface="Arial"/>
                <a:ea typeface="Arial"/>
                <a:cs typeface="Arial"/>
              </a:defRPr>
            </a:pPr>
            <a:r>
              <a:rPr sz="1800" b="0">
                <a:solidFill>
                  <a:srgbClr val="F4C16B"/>
                </a:solidFill>
                <a:latin typeface="Arial"/>
                <a:ea typeface="Arial"/>
                <a:cs typeface="Arial"/>
              </a:rPr>
              <a:t>Impact targets require pilot measurement. No field savings claimed.</a:t>
            </a:r>
          </a:p>
        </p:txBody>
      </p:sp>
    </p:spTree>
    <p:extLst>
      <p:ext uri="{BB962C8B-B14F-4D97-AF65-F5344CB8AC3E}">
        <p14:creationId xmlns:p14="http://schemas.microsoft.com/office/powerpoint/2010/main" val="1300290798"/>
      </p:ext>
    </p:extLst>
  </p:cSld>
</p:sld>
</file>

<file path=ppt/slides/slide10.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E6E655-73E5-40F0-A926-79F5EA285166}"/>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E6D3"/>
                </a:solidFill>
                <a:latin typeface="Arial"/>
                <a:ea typeface="Arial"/>
                <a:cs typeface="Arial"/>
              </a:defRPr>
            </a:pPr>
            <a:r>
              <a:rPr sz="1275" b="1">
                <a:solidFill>
                  <a:srgbClr val="64E6D3"/>
                </a:solidFill>
                <a:latin typeface="Arial"/>
                <a:ea typeface="Arial"/>
                <a:cs typeface="Arial"/>
              </a:rPr>
              <a:t>THE ASK</a:t>
            </a:r>
          </a:p>
        </p:txBody>
      </p:sp>
      <p:sp>
        <p:nvSpPr>
          <p:cNvPr id="2" name="">
            <a:extLst xmlns:a="http://schemas.openxmlformats.org/drawingml/2006/main">
              <a:ext uri="{FF2B5EF4-FFF2-40B4-BE49-F238E27FC236}">
                <a16:creationId xmlns:a16="http://schemas.microsoft.com/office/drawing/2014/main" id="{3B29E160-4CC8-41BF-869E-69C99761AFAB}"/>
              </a:ext>
            </a:extLst>
          </p:cNvPr>
          <p:cNvSpPr>
            <a:spLocks xmlns:a="http://schemas.openxmlformats.org/drawingml/2006/main" noGrp="1"/>
          </p:cNvSpPr>
          <p:nvPr/>
        </p:nvSpPr>
        <p:spPr>
          <a:xfrm xmlns:a="http://schemas.openxmlformats.org/drawingml/2006/main">
            <a:off x="609600" y="781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1F6F7"/>
                </a:solidFill>
                <a:latin typeface="Arial"/>
                <a:ea typeface="Arial"/>
                <a:cs typeface="Arial"/>
              </a:defRPr>
            </a:pPr>
            <a:r>
              <a:rPr sz="3375" b="1">
                <a:solidFill>
                  <a:srgbClr val="F1F6F7"/>
                </a:solidFill>
                <a:latin typeface="Arial"/>
                <a:ea typeface="Arial"/>
                <a:cs typeface="Arial"/>
              </a:rPr>
              <a:t>Next stage: a validated coordination pilot</a:t>
            </a:r>
          </a:p>
        </p:txBody>
      </p:sp>
      <p:sp>
        <p:nvSpPr>
          <p:cNvPr id="3" name="">
            <a:extLst xmlns:a="http://schemas.openxmlformats.org/drawingml/2006/main">
              <a:ext uri="{FF2B5EF4-FFF2-40B4-BE49-F238E27FC236}">
                <a16:creationId xmlns:a16="http://schemas.microsoft.com/office/drawing/2014/main" id="{A2930346-10CC-43D5-80AD-654815AE4EB6}"/>
              </a:ext>
            </a:extLst>
          </p:cNvPr>
          <p:cNvSpPr>
            <a:spLocks xmlns:a="http://schemas.openxmlformats.org/drawingml/2006/main" noGrp="1"/>
          </p:cNvSpPr>
          <p:nvPr/>
        </p:nvSpPr>
        <p:spPr>
          <a:xfrm xmlns:a="http://schemas.openxmlformats.org/drawingml/2006/main">
            <a:off x="609600" y="63722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ADC2CC"/>
                </a:solidFill>
                <a:latin typeface="Arial"/>
                <a:ea typeface="Arial"/>
                <a:cs typeface="Arial"/>
              </a:defRPr>
            </a:pPr>
            <a:r>
              <a:rPr sz="1200" b="1">
                <a:solidFill>
                  <a:srgbClr val="ADC2CC"/>
                </a:solidFill>
                <a:latin typeface="Arial"/>
                <a:ea typeface="Arial"/>
                <a:cs typeface="Arial"/>
              </a:rPr>
              <a:t>AEGISGRID</a:t>
            </a:r>
          </a:p>
        </p:txBody>
      </p:sp>
      <p:sp>
        <p:nvSpPr>
          <p:cNvPr id="4" name="">
            <a:extLst xmlns:a="http://schemas.openxmlformats.org/drawingml/2006/main">
              <a:ext uri="{FF2B5EF4-FFF2-40B4-BE49-F238E27FC236}">
                <a16:creationId xmlns:a16="http://schemas.microsoft.com/office/drawing/2014/main" id="{FA9E4968-8957-4876-8482-8143332357D9}"/>
              </a:ext>
            </a:extLst>
          </p:cNvPr>
          <p:cNvSpPr>
            <a:spLocks xmlns:a="http://schemas.openxmlformats.org/drawingml/2006/main" noGrp="1"/>
          </p:cNvSpPr>
          <p:nvPr/>
        </p:nvSpPr>
        <p:spPr>
          <a:xfrm xmlns:a="http://schemas.openxmlformats.org/drawingml/2006/main">
            <a:off x="11049000" y="63722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DC2CC"/>
                </a:solidFill>
                <a:latin typeface="Arial"/>
                <a:ea typeface="Arial"/>
                <a:cs typeface="Arial"/>
              </a:defRPr>
            </a:pPr>
            <a:r>
              <a:rPr sz="1200" b="0">
                <a:solidFill>
                  <a:srgbClr val="ADC2CC"/>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4250EC2E-DCDA-4A13-B7C7-8FC51EC94EBA}"/>
              </a:ext>
            </a:extLst>
          </p:cNvPr>
          <p:cNvSpPr>
            <a:spLocks xmlns:a="http://schemas.openxmlformats.org/drawingml/2006/main" noGrp="1"/>
          </p:cNvSpPr>
          <p:nvPr/>
        </p:nvSpPr>
        <p:spPr>
          <a:xfrm xmlns:a="http://schemas.openxmlformats.org/drawingml/2006/main">
            <a:off x="609600" y="2085975"/>
            <a:ext cx="10668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F1F6F7"/>
                </a:solidFill>
                <a:latin typeface="Arial"/>
                <a:ea typeface="Arial"/>
                <a:cs typeface="Arial"/>
              </a:defRPr>
            </a:pPr>
            <a:r>
              <a:rPr sz="4425" b="1">
                <a:solidFill>
                  <a:srgbClr val="F1F6F7"/>
                </a:solidFill>
                <a:latin typeface="Arial"/>
                <a:ea typeface="Arial"/>
                <a:cs typeface="Arial"/>
              </a:rPr>
              <a:t>One area.</a:t>
            </a:r>
          </a:p>
          <a:p xmlns:a="http://schemas.openxmlformats.org/drawingml/2006/main">
            <a:pPr>
              <a:defRPr sz="4425" b="1">
                <a:solidFill>
                  <a:srgbClr val="F1F6F7"/>
                </a:solidFill>
                <a:latin typeface="Arial"/>
                <a:ea typeface="Arial"/>
                <a:cs typeface="Arial"/>
              </a:defRPr>
            </a:pPr>
            <a:r>
              <a:rPr sz="4425" b="1">
                <a:solidFill>
                  <a:srgbClr val="F1F6F7"/>
                </a:solidFill>
                <a:latin typeface="Arial"/>
                <a:ea typeface="Arial"/>
                <a:cs typeface="Arial"/>
              </a:rPr>
              <a:t>One shared scenario.</a:t>
            </a:r>
          </a:p>
          <a:p xmlns:a="http://schemas.openxmlformats.org/drawingml/2006/main">
            <a:pPr>
              <a:defRPr sz="4425" b="1">
                <a:solidFill>
                  <a:srgbClr val="F1F6F7"/>
                </a:solidFill>
                <a:latin typeface="Arial"/>
                <a:ea typeface="Arial"/>
                <a:cs typeface="Arial"/>
              </a:defRPr>
            </a:pPr>
            <a:r>
              <a:rPr sz="4425" b="1">
                <a:solidFill>
                  <a:srgbClr val="F1F6F7"/>
                </a:solidFill>
                <a:latin typeface="Arial"/>
                <a:ea typeface="Arial"/>
                <a:cs typeface="Arial"/>
              </a:rPr>
              <a:t>A measurable response.</a:t>
            </a:r>
          </a:p>
        </p:txBody>
      </p:sp>
      <p:sp>
        <p:nvSpPr>
          <p:cNvPr id="6" name="">
            <a:extLst xmlns:a="http://schemas.openxmlformats.org/drawingml/2006/main">
              <a:ext uri="{FF2B5EF4-FFF2-40B4-BE49-F238E27FC236}">
                <a16:creationId xmlns:a16="http://schemas.microsoft.com/office/drawing/2014/main" id="{D971844C-4CEC-4520-84BC-8C1BA426696E}"/>
              </a:ext>
            </a:extLst>
          </p:cNvPr>
          <p:cNvSpPr>
            <a:spLocks xmlns:a="http://schemas.openxmlformats.org/drawingml/2006/main" noGrp="1"/>
          </p:cNvSpPr>
          <p:nvPr/>
        </p:nvSpPr>
        <p:spPr>
          <a:xfrm xmlns:a="http://schemas.openxmlformats.org/drawingml/2006/main">
            <a:off x="647700" y="52387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4E6D3"/>
                </a:solidFill>
                <a:latin typeface="Arial"/>
                <a:ea typeface="Arial"/>
                <a:cs typeface="Arial"/>
              </a:defRPr>
            </a:pPr>
            <a:r>
              <a:rPr sz="2400" b="0">
                <a:solidFill>
                  <a:srgbClr val="64E6D3"/>
                </a:solidFill>
                <a:latin typeface="Arial"/>
                <a:ea typeface="Arial"/>
                <a:cs typeface="Arial"/>
              </a:rPr>
              <a:t>Seeking next-round support and an operations partner</a:t>
            </a:r>
          </a:p>
        </p:txBody>
      </p:sp>
    </p:spTree>
    <p:extLst>
      <p:ext uri="{BB962C8B-B14F-4D97-AF65-F5344CB8AC3E}">
        <p14:creationId xmlns:p14="http://schemas.microsoft.com/office/powerpoint/2010/main" val="1608894354"/>
      </p:ext>
    </p:extLst>
  </p:cSld>
</p:sld>
</file>

<file path=ppt/slides/slide11.xml><?xml version="1.0" encoding="utf-8"?>
<p:sld xmlns:p="http://schemas.openxmlformats.org/presentationml/2006/main">
  <p:cSld>
    <p:bg>
      <p:bgPr>
        <a:solidFill xmlns:a="http://schemas.openxmlformats.org/drawingml/2006/main">
          <a:srgbClr val="EDF3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84AC24-2B4B-48BD-937E-839645769BC9}"/>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6F66"/>
                </a:solidFill>
                <a:latin typeface="Arial"/>
                <a:ea typeface="Arial"/>
                <a:cs typeface="Arial"/>
              </a:defRPr>
            </a:pPr>
            <a:r>
              <a:rPr sz="1275" b="1">
                <a:solidFill>
                  <a:srgbClr val="166F66"/>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DEA4B885-7AA7-4174-85DA-BE56511DFC8F}"/>
              </a:ext>
            </a:extLst>
          </p:cNvPr>
          <p:cNvSpPr>
            <a:spLocks xmlns:a="http://schemas.openxmlformats.org/drawingml/2006/main" noGrp="1"/>
          </p:cNvSpPr>
          <p:nvPr/>
        </p:nvSpPr>
        <p:spPr>
          <a:xfrm xmlns:a="http://schemas.openxmlformats.org/drawingml/2006/main">
            <a:off x="609600" y="781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02B36"/>
                </a:solidFill>
                <a:latin typeface="Arial"/>
                <a:ea typeface="Arial"/>
                <a:cs typeface="Arial"/>
              </a:defRPr>
            </a:pPr>
            <a:r>
              <a:rPr sz="3375" b="1">
                <a:solidFill>
                  <a:srgbClr val="102B36"/>
                </a:solidFill>
                <a:latin typeface="Arial"/>
                <a:ea typeface="Arial"/>
                <a:cs typeface="Arial"/>
              </a:rPr>
              <a:t>Prototype status and integration boundaries</a:t>
            </a:r>
          </a:p>
        </p:txBody>
      </p:sp>
      <p:sp>
        <p:nvSpPr>
          <p:cNvPr id="3" name="">
            <a:extLst xmlns:a="http://schemas.openxmlformats.org/drawingml/2006/main">
              <a:ext uri="{FF2B5EF4-FFF2-40B4-BE49-F238E27FC236}">
                <a16:creationId xmlns:a16="http://schemas.microsoft.com/office/drawing/2014/main" id="{6F6ABC72-F6EB-46EA-BC1A-7D6A0137F4A3}"/>
              </a:ext>
            </a:extLst>
          </p:cNvPr>
          <p:cNvSpPr>
            <a:spLocks xmlns:a="http://schemas.openxmlformats.org/drawingml/2006/main" noGrp="1"/>
          </p:cNvSpPr>
          <p:nvPr/>
        </p:nvSpPr>
        <p:spPr>
          <a:xfrm xmlns:a="http://schemas.openxmlformats.org/drawingml/2006/main">
            <a:off x="609600" y="63722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496370"/>
                </a:solidFill>
                <a:latin typeface="Arial"/>
                <a:ea typeface="Arial"/>
                <a:cs typeface="Arial"/>
              </a:defRPr>
            </a:pPr>
            <a:r>
              <a:rPr sz="1200" b="1">
                <a:solidFill>
                  <a:srgbClr val="496370"/>
                </a:solidFill>
                <a:latin typeface="Arial"/>
                <a:ea typeface="Arial"/>
                <a:cs typeface="Arial"/>
              </a:rPr>
              <a:t>AEGISGRID</a:t>
            </a:r>
          </a:p>
        </p:txBody>
      </p:sp>
      <p:sp>
        <p:nvSpPr>
          <p:cNvPr id="4" name="">
            <a:extLst xmlns:a="http://schemas.openxmlformats.org/drawingml/2006/main">
              <a:ext uri="{FF2B5EF4-FFF2-40B4-BE49-F238E27FC236}">
                <a16:creationId xmlns:a16="http://schemas.microsoft.com/office/drawing/2014/main" id="{4ED511F5-6E92-4E2A-B892-B0279651C918}"/>
              </a:ext>
            </a:extLst>
          </p:cNvPr>
          <p:cNvSpPr>
            <a:spLocks xmlns:a="http://schemas.openxmlformats.org/drawingml/2006/main" noGrp="1"/>
          </p:cNvSpPr>
          <p:nvPr/>
        </p:nvSpPr>
        <p:spPr>
          <a:xfrm xmlns:a="http://schemas.openxmlformats.org/drawingml/2006/main">
            <a:off x="11049000" y="63722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96370"/>
                </a:solidFill>
                <a:latin typeface="Arial"/>
                <a:ea typeface="Arial"/>
                <a:cs typeface="Arial"/>
              </a:defRPr>
            </a:pPr>
            <a:r>
              <a:rPr sz="1200" b="0">
                <a:solidFill>
                  <a:srgbClr val="496370"/>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C9893534-A4CB-4C78-916A-AB05C5B5BB69}"/>
              </a:ext>
            </a:extLst>
          </p:cNvPr>
          <p:cNvSpPr>
            <a:spLocks xmlns:a="http://schemas.openxmlformats.org/drawingml/2006/main" noGrp="1"/>
          </p:cNvSpPr>
          <p:nvPr/>
        </p:nvSpPr>
        <p:spPr>
          <a:xfrm xmlns:a="http://schemas.openxmlformats.org/drawingml/2006/main">
            <a:off x="609600" y="209550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8477"/>
                </a:solidFill>
                <a:latin typeface="Arial"/>
                <a:ea typeface="Arial"/>
                <a:cs typeface="Arial"/>
              </a:defRPr>
            </a:pPr>
            <a:r>
              <a:rPr sz="2475" b="1">
                <a:solidFill>
                  <a:srgbClr val="168477"/>
                </a:solidFill>
                <a:latin typeface="Arial"/>
                <a:ea typeface="Arial"/>
                <a:cs typeface="Arial"/>
              </a:rPr>
              <a:t>Prototype foundation</a:t>
            </a:r>
          </a:p>
        </p:txBody>
      </p:sp>
      <p:sp>
        <p:nvSpPr>
          <p:cNvPr id="6" name="">
            <a:extLst xmlns:a="http://schemas.openxmlformats.org/drawingml/2006/main">
              <a:ext uri="{FF2B5EF4-FFF2-40B4-BE49-F238E27FC236}">
                <a16:creationId xmlns:a16="http://schemas.microsoft.com/office/drawing/2014/main" id="{8E6218FE-5523-470E-BF64-06E46C4C13C2}"/>
              </a:ext>
            </a:extLst>
          </p:cNvPr>
          <p:cNvSpPr>
            <a:spLocks xmlns:a="http://schemas.openxmlformats.org/drawingml/2006/main" noGrp="1"/>
          </p:cNvSpPr>
          <p:nvPr/>
        </p:nvSpPr>
        <p:spPr>
          <a:xfrm xmlns:a="http://schemas.openxmlformats.org/drawingml/2006/main">
            <a:off x="609600" y="2876550"/>
            <a:ext cx="51911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Shared scenario clock and state</a:t>
            </a:r>
          </a:p>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Rainfall and drainage rules</a:t>
            </a:r>
          </a:p>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Road closure effects</a:t>
            </a:r>
          </a:p>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GTFS-based train positions</a:t>
            </a:r>
          </a:p>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Modeled demand and passenger queues</a:t>
            </a:r>
          </a:p>
        </p:txBody>
      </p:sp>
      <p:sp>
        <p:nvSpPr>
          <p:cNvPr id="7" name="">
            <a:extLst xmlns:a="http://schemas.openxmlformats.org/drawingml/2006/main">
              <a:ext uri="{FF2B5EF4-FFF2-40B4-BE49-F238E27FC236}">
                <a16:creationId xmlns:a16="http://schemas.microsoft.com/office/drawing/2014/main" id="{AEC0CC88-BFEE-4944-94A2-2798E8B09A0D}"/>
              </a:ext>
            </a:extLst>
          </p:cNvPr>
          <p:cNvSpPr>
            <a:spLocks xmlns:a="http://schemas.openxmlformats.org/drawingml/2006/main" noGrp="1"/>
          </p:cNvSpPr>
          <p:nvPr/>
        </p:nvSpPr>
        <p:spPr>
          <a:xfrm xmlns:a="http://schemas.openxmlformats.org/drawingml/2006/main">
            <a:off x="6381750" y="209550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98631D"/>
                </a:solidFill>
                <a:latin typeface="Arial"/>
                <a:ea typeface="Arial"/>
                <a:cs typeface="Arial"/>
              </a:defRPr>
            </a:pPr>
            <a:r>
              <a:rPr sz="2475" b="1">
                <a:solidFill>
                  <a:srgbClr val="98631D"/>
                </a:solidFill>
                <a:latin typeface="Arial"/>
                <a:ea typeface="Arial"/>
                <a:cs typeface="Arial"/>
              </a:rPr>
              <a:t>Work still required</a:t>
            </a:r>
          </a:p>
        </p:txBody>
      </p:sp>
      <p:sp>
        <p:nvSpPr>
          <p:cNvPr id="8" name="">
            <a:extLst xmlns:a="http://schemas.openxmlformats.org/drawingml/2006/main">
              <a:ext uri="{FF2B5EF4-FFF2-40B4-BE49-F238E27FC236}">
                <a16:creationId xmlns:a16="http://schemas.microsoft.com/office/drawing/2014/main" id="{17A612AF-1773-451D-8566-932DF7331050}"/>
              </a:ext>
            </a:extLst>
          </p:cNvPr>
          <p:cNvSpPr>
            <a:spLocks xmlns:a="http://schemas.openxmlformats.org/drawingml/2006/main" noGrp="1"/>
          </p:cNvSpPr>
          <p:nvPr/>
        </p:nvSpPr>
        <p:spPr>
          <a:xfrm xmlns:a="http://schemas.openxmlformats.org/drawingml/2006/main">
            <a:off x="6381750" y="2876550"/>
            <a:ext cx="51911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Map and movement refinement</a:t>
            </a:r>
          </a:p>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Verified live weather / telemetry</a:t>
            </a:r>
          </a:p>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Electrical protection and load-flow</a:t>
            </a:r>
          </a:p>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Dynamic metro dispatch</a:t>
            </a:r>
          </a:p>
          <a:p xmlns:a="http://schemas.openxmlformats.org/drawingml/2006/main">
            <a:pPr>
              <a:defRPr sz="2025" b="0">
                <a:solidFill>
                  <a:srgbClr val="102B36"/>
                </a:solidFill>
                <a:latin typeface="Arial"/>
                <a:ea typeface="Arial"/>
                <a:cs typeface="Arial"/>
              </a:defRPr>
            </a:pPr>
            <a:r>
              <a:rPr sz="2025" b="0">
                <a:solidFill>
                  <a:srgbClr val="102B36"/>
                </a:solidFill>
                <a:latin typeface="Arial"/>
                <a:ea typeface="Arial"/>
                <a:cs typeface="Arial"/>
              </a:rPr>
              <a:t>Field calibration and pilot validation</a:t>
            </a:r>
          </a:p>
        </p:txBody>
      </p:sp>
    </p:spTree>
    <p:extLst>
      <p:ext uri="{BB962C8B-B14F-4D97-AF65-F5344CB8AC3E}">
        <p14:creationId xmlns:p14="http://schemas.microsoft.com/office/powerpoint/2010/main" val="1557961628"/>
      </p:ext>
    </p:extLst>
  </p:cSld>
</p:sld>
</file>

<file path=ppt/slides/slide12.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D1CE9AA-3945-40D1-9851-0C3FE7FF6EB0}"/>
              </a:ext>
            </a:extLst>
          </p:cNvPr>
          <p:cNvSpPr>
            <a:spLocks xmlns:a="http://schemas.openxmlformats.org/drawingml/2006/main" noGrp="1"/>
          </p:cNvSpPr>
          <p:nvPr/>
        </p:nvSpPr>
        <p:spPr>
          <a:xfrm xmlns:a="http://schemas.openxmlformats.org/drawingml/2006/main">
            <a:off x="609600" y="304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E6D3"/>
                </a:solidFill>
                <a:latin typeface="Arial"/>
                <a:ea typeface="Arial"/>
                <a:cs typeface="Arial"/>
              </a:defRPr>
            </a:pPr>
            <a:r>
              <a:rPr sz="1275" b="1">
                <a:solidFill>
                  <a:srgbClr val="64E6D3"/>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F724336A-43BE-41BF-8CB3-2DC27FD2DDC3}"/>
              </a:ext>
            </a:extLst>
          </p:cNvPr>
          <p:cNvSpPr>
            <a:spLocks xmlns:a="http://schemas.openxmlformats.org/drawingml/2006/main" noGrp="1"/>
          </p:cNvSpPr>
          <p:nvPr/>
        </p:nvSpPr>
        <p:spPr>
          <a:xfrm xmlns:a="http://schemas.openxmlformats.org/drawingml/2006/main">
            <a:off x="609600" y="781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1F6F7"/>
                </a:solidFill>
                <a:latin typeface="Arial"/>
                <a:ea typeface="Arial"/>
                <a:cs typeface="Arial"/>
              </a:defRPr>
            </a:pPr>
            <a:r>
              <a:rPr sz="3375" b="1">
                <a:solidFill>
                  <a:srgbClr val="F1F6F7"/>
                </a:solidFill>
                <a:latin typeface="Arial"/>
                <a:ea typeface="Arial"/>
                <a:cs typeface="Arial"/>
              </a:rPr>
              <a:t>Questions judges may ask</a:t>
            </a:r>
          </a:p>
        </p:txBody>
      </p:sp>
      <p:sp>
        <p:nvSpPr>
          <p:cNvPr id="3" name="">
            <a:extLst xmlns:a="http://schemas.openxmlformats.org/drawingml/2006/main">
              <a:ext uri="{FF2B5EF4-FFF2-40B4-BE49-F238E27FC236}">
                <a16:creationId xmlns:a16="http://schemas.microsoft.com/office/drawing/2014/main" id="{6060C800-F474-4311-8F36-FA1575CAE5AA}"/>
              </a:ext>
            </a:extLst>
          </p:cNvPr>
          <p:cNvSpPr>
            <a:spLocks xmlns:a="http://schemas.openxmlformats.org/drawingml/2006/main" noGrp="1"/>
          </p:cNvSpPr>
          <p:nvPr/>
        </p:nvSpPr>
        <p:spPr>
          <a:xfrm xmlns:a="http://schemas.openxmlformats.org/drawingml/2006/main">
            <a:off x="609600" y="63722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ADC2CC"/>
                </a:solidFill>
                <a:latin typeface="Arial"/>
                <a:ea typeface="Arial"/>
                <a:cs typeface="Arial"/>
              </a:defRPr>
            </a:pPr>
            <a:r>
              <a:rPr sz="1200" b="1">
                <a:solidFill>
                  <a:srgbClr val="ADC2CC"/>
                </a:solidFill>
                <a:latin typeface="Arial"/>
                <a:ea typeface="Arial"/>
                <a:cs typeface="Arial"/>
              </a:rPr>
              <a:t>AEGISGRID</a:t>
            </a:r>
          </a:p>
        </p:txBody>
      </p:sp>
      <p:sp>
        <p:nvSpPr>
          <p:cNvPr id="4" name="">
            <a:extLst xmlns:a="http://schemas.openxmlformats.org/drawingml/2006/main">
              <a:ext uri="{FF2B5EF4-FFF2-40B4-BE49-F238E27FC236}">
                <a16:creationId xmlns:a16="http://schemas.microsoft.com/office/drawing/2014/main" id="{4BAB905A-01B4-4B83-8FA1-88E2DF8173D8}"/>
              </a:ext>
            </a:extLst>
          </p:cNvPr>
          <p:cNvSpPr>
            <a:spLocks xmlns:a="http://schemas.openxmlformats.org/drawingml/2006/main" noGrp="1"/>
          </p:cNvSpPr>
          <p:nvPr/>
        </p:nvSpPr>
        <p:spPr>
          <a:xfrm xmlns:a="http://schemas.openxmlformats.org/drawingml/2006/main">
            <a:off x="11049000" y="637222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DC2CC"/>
                </a:solidFill>
                <a:latin typeface="Arial"/>
                <a:ea typeface="Arial"/>
                <a:cs typeface="Arial"/>
              </a:defRPr>
            </a:pPr>
            <a:r>
              <a:rPr sz="1200" b="0">
                <a:solidFill>
                  <a:srgbClr val="ADC2CC"/>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4E7C2F93-62EE-400F-AB74-8EB92294E771}"/>
              </a:ext>
            </a:extLst>
          </p:cNvPr>
          <p:cNvSpPr>
            <a:spLocks xmlns:a="http://schemas.openxmlformats.org/drawingml/2006/main" noGrp="1"/>
          </p:cNvSpPr>
          <p:nvPr/>
        </p:nvSpPr>
        <p:spPr>
          <a:xfrm xmlns:a="http://schemas.openxmlformats.org/drawingml/2006/main">
            <a:off x="609600" y="209550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4E6D3"/>
                </a:solidFill>
                <a:latin typeface="Arial"/>
                <a:ea typeface="Arial"/>
                <a:cs typeface="Arial"/>
              </a:defRPr>
            </a:pPr>
            <a:r>
              <a:rPr sz="2175" b="1">
                <a:solidFill>
                  <a:srgbClr val="64E6D3"/>
                </a:solidFill>
                <a:latin typeface="Arial"/>
                <a:ea typeface="Arial"/>
                <a:cs typeface="Arial"/>
              </a:rPr>
              <a:t>Is the data live?</a:t>
            </a:r>
          </a:p>
        </p:txBody>
      </p:sp>
      <p:sp>
        <p:nvSpPr>
          <p:cNvPr id="6" name="">
            <a:extLst xmlns:a="http://schemas.openxmlformats.org/drawingml/2006/main">
              <a:ext uri="{FF2B5EF4-FFF2-40B4-BE49-F238E27FC236}">
                <a16:creationId xmlns:a16="http://schemas.microsoft.com/office/drawing/2014/main" id="{154CB5F7-1D04-4F8D-A00C-3118A0266702}"/>
              </a:ext>
            </a:extLst>
          </p:cNvPr>
          <p:cNvSpPr>
            <a:spLocks xmlns:a="http://schemas.openxmlformats.org/drawingml/2006/main" noGrp="1"/>
          </p:cNvSpPr>
          <p:nvPr/>
        </p:nvSpPr>
        <p:spPr>
          <a:xfrm xmlns:a="http://schemas.openxmlformats.org/drawingml/2006/main">
            <a:off x="609600" y="261937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Source geography and timetables are real. Missing operating data is modeled.</a:t>
            </a:r>
          </a:p>
        </p:txBody>
      </p:sp>
      <p:sp>
        <p:nvSpPr>
          <p:cNvPr id="7" name="">
            <a:extLst xmlns:a="http://schemas.openxmlformats.org/drawingml/2006/main">
              <a:ext uri="{FF2B5EF4-FFF2-40B4-BE49-F238E27FC236}">
                <a16:creationId xmlns:a16="http://schemas.microsoft.com/office/drawing/2014/main" id="{D9C64621-C418-40CC-905C-863CBCFE8D37}"/>
              </a:ext>
            </a:extLst>
          </p:cNvPr>
          <p:cNvSpPr>
            <a:spLocks xmlns:a="http://schemas.openxmlformats.org/drawingml/2006/main" noGrp="1"/>
          </p:cNvSpPr>
          <p:nvPr/>
        </p:nvSpPr>
        <p:spPr>
          <a:xfrm xmlns:a="http://schemas.openxmlformats.org/drawingml/2006/main">
            <a:off x="6381750" y="209550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4E6D3"/>
                </a:solidFill>
                <a:latin typeface="Arial"/>
                <a:ea typeface="Arial"/>
                <a:cs typeface="Arial"/>
              </a:defRPr>
            </a:pPr>
            <a:r>
              <a:rPr sz="2175" b="1">
                <a:solidFill>
                  <a:srgbClr val="64E6D3"/>
                </a:solidFill>
                <a:latin typeface="Arial"/>
                <a:ea typeface="Arial"/>
                <a:cs typeface="Arial"/>
              </a:rPr>
              <a:t>Where does AI fit?</a:t>
            </a:r>
          </a:p>
        </p:txBody>
      </p:sp>
      <p:sp>
        <p:nvSpPr>
          <p:cNvPr id="8" name="">
            <a:extLst xmlns:a="http://schemas.openxmlformats.org/drawingml/2006/main">
              <a:ext uri="{FF2B5EF4-FFF2-40B4-BE49-F238E27FC236}">
                <a16:creationId xmlns:a16="http://schemas.microsoft.com/office/drawing/2014/main" id="{9B20B060-FD2D-493C-AF54-1EB3EE27748C}"/>
              </a:ext>
            </a:extLst>
          </p:cNvPr>
          <p:cNvSpPr>
            <a:spLocks xmlns:a="http://schemas.openxmlformats.org/drawingml/2006/main" noGrp="1"/>
          </p:cNvSpPr>
          <p:nvPr/>
        </p:nvSpPr>
        <p:spPr>
          <a:xfrm xmlns:a="http://schemas.openxmlformats.org/drawingml/2006/main">
            <a:off x="6381750" y="261937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Rules drive the current demo. AI explanation and advisory integration remain limited.</a:t>
            </a:r>
          </a:p>
        </p:txBody>
      </p:sp>
      <p:sp>
        <p:nvSpPr>
          <p:cNvPr id="9" name="">
            <a:extLst xmlns:a="http://schemas.openxmlformats.org/drawingml/2006/main">
              <a:ext uri="{FF2B5EF4-FFF2-40B4-BE49-F238E27FC236}">
                <a16:creationId xmlns:a16="http://schemas.microsoft.com/office/drawing/2014/main" id="{755FAA2B-42F5-4FDA-ADDE-19AAE538FD78}"/>
              </a:ext>
            </a:extLst>
          </p:cNvPr>
          <p:cNvSpPr>
            <a:spLocks xmlns:a="http://schemas.openxmlformats.org/drawingml/2006/main" noGrp="1"/>
          </p:cNvSpPr>
          <p:nvPr/>
        </p:nvSpPr>
        <p:spPr>
          <a:xfrm xmlns:a="http://schemas.openxmlformats.org/drawingml/2006/main">
            <a:off x="609600" y="419100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4E6D3"/>
                </a:solidFill>
                <a:latin typeface="Arial"/>
                <a:ea typeface="Arial"/>
                <a:cs typeface="Arial"/>
              </a:defRPr>
            </a:pPr>
            <a:r>
              <a:rPr sz="2175" b="1">
                <a:solidFill>
                  <a:srgbClr val="64E6D3"/>
                </a:solidFill>
                <a:latin typeface="Arial"/>
                <a:ea typeface="Arial"/>
                <a:cs typeface="Arial"/>
              </a:rPr>
              <a:t>How does cost stay controlled?</a:t>
            </a:r>
          </a:p>
        </p:txBody>
      </p:sp>
      <p:sp>
        <p:nvSpPr>
          <p:cNvPr id="10" name="">
            <a:extLst xmlns:a="http://schemas.openxmlformats.org/drawingml/2006/main">
              <a:ext uri="{FF2B5EF4-FFF2-40B4-BE49-F238E27FC236}">
                <a16:creationId xmlns:a16="http://schemas.microsoft.com/office/drawing/2014/main" id="{5128C8EE-538F-4E01-91CA-61BFE7F0B69B}"/>
              </a:ext>
            </a:extLst>
          </p:cNvPr>
          <p:cNvSpPr>
            <a:spLocks xmlns:a="http://schemas.openxmlformats.org/drawingml/2006/main" noGrp="1"/>
          </p:cNvSpPr>
          <p:nvPr/>
        </p:nvSpPr>
        <p:spPr>
          <a:xfrm xmlns:a="http://schemas.openxmlformats.org/drawingml/2006/main">
            <a:off x="609600" y="471487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Reuse meters, cap API calls and summarize stored readings.</a:t>
            </a:r>
          </a:p>
        </p:txBody>
      </p:sp>
      <p:sp>
        <p:nvSpPr>
          <p:cNvPr id="11" name="">
            <a:extLst xmlns:a="http://schemas.openxmlformats.org/drawingml/2006/main">
              <a:ext uri="{FF2B5EF4-FFF2-40B4-BE49-F238E27FC236}">
                <a16:creationId xmlns:a16="http://schemas.microsoft.com/office/drawing/2014/main" id="{7BDF8E0C-6903-4555-A0B7-BF5C9614DF67}"/>
              </a:ext>
            </a:extLst>
          </p:cNvPr>
          <p:cNvSpPr>
            <a:spLocks xmlns:a="http://schemas.openxmlformats.org/drawingml/2006/main" noGrp="1"/>
          </p:cNvSpPr>
          <p:nvPr/>
        </p:nvSpPr>
        <p:spPr>
          <a:xfrm xmlns:a="http://schemas.openxmlformats.org/drawingml/2006/main">
            <a:off x="6381750" y="419100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4E6D3"/>
                </a:solidFill>
                <a:latin typeface="Arial"/>
                <a:ea typeface="Arial"/>
                <a:cs typeface="Arial"/>
              </a:defRPr>
            </a:pPr>
            <a:r>
              <a:rPr sz="2175" b="1">
                <a:solidFill>
                  <a:srgbClr val="64E6D3"/>
                </a:solidFill>
                <a:latin typeface="Arial"/>
                <a:ea typeface="Arial"/>
                <a:cs typeface="Arial"/>
              </a:rPr>
              <a:t>Does it control city equipment?</a:t>
            </a:r>
          </a:p>
        </p:txBody>
      </p:sp>
      <p:sp>
        <p:nvSpPr>
          <p:cNvPr id="12" name="">
            <a:extLst xmlns:a="http://schemas.openxmlformats.org/drawingml/2006/main">
              <a:ext uri="{FF2B5EF4-FFF2-40B4-BE49-F238E27FC236}">
                <a16:creationId xmlns:a16="http://schemas.microsoft.com/office/drawing/2014/main" id="{0DBEF641-E6A7-4958-B1EB-39303721085D}"/>
              </a:ext>
            </a:extLst>
          </p:cNvPr>
          <p:cNvSpPr>
            <a:spLocks xmlns:a="http://schemas.openxmlformats.org/drawingml/2006/main" noGrp="1"/>
          </p:cNvSpPr>
          <p:nvPr/>
        </p:nvSpPr>
        <p:spPr>
          <a:xfrm xmlns:a="http://schemas.openxmlformats.org/drawingml/2006/main">
            <a:off x="6381750" y="471487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DC2CC"/>
                </a:solidFill>
                <a:latin typeface="Arial"/>
                <a:ea typeface="Arial"/>
                <a:cs typeface="Arial"/>
              </a:defRPr>
            </a:pPr>
            <a:r>
              <a:rPr sz="1950" b="0">
                <a:solidFill>
                  <a:srgbClr val="ADC2CC"/>
                </a:solidFill>
                <a:latin typeface="Arial"/>
                <a:ea typeface="Arial"/>
                <a:cs typeface="Arial"/>
              </a:rPr>
              <a:t>No physical actuation in this prototype. Operators review simulated actions.</a:t>
            </a:r>
          </a:p>
        </p:txBody>
      </p:sp>
    </p:spTree>
    <p:extLst>
      <p:ext uri="{BB962C8B-B14F-4D97-AF65-F5344CB8AC3E}">
        <p14:creationId xmlns:p14="http://schemas.microsoft.com/office/powerpoint/2010/main" val="18039812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2026-09-04T15:25:02.3410000Z</dcterms:created>
  <dcterms:modified xsi:type="dcterms:W3CDTF">2026-09-04T15:25:02.3410000Z</dcterms:modified>
</coreProperties>
</file>